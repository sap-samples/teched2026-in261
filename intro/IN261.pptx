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24"/>
  </p:sldMasterIdLst>
  <p:notesMasterIdLst>
    <p:notesMasterId r:id="rId31"/>
  </p:notesMasterIdLst>
  <p:handoutMasterIdLst>
    <p:handoutMasterId r:id="rId32"/>
  </p:handoutMasterIdLst>
  <p:sldIdLst>
    <p:sldId id="2147483267" r:id="rId25"/>
    <p:sldId id="256" r:id="rId26"/>
    <p:sldId id="2147483482" r:id="rId27"/>
    <p:sldId id="2147483481" r:id="rId28"/>
    <p:sldId id="2147483314" r:id="rId29"/>
    <p:sldId id="2147483279" r:id="rId30"/>
  </p:sldIdLst>
  <p:sldSz cx="12195175" cy="6858000"/>
  <p:notesSz cx="6858000" cy="9144000"/>
  <p:embeddedFontLst>
    <p:embeddedFont>
      <p:font typeface="72" panose="020B0503030000000003" pitchFamily="34" charset="0"/>
      <p:regular r:id="rId33"/>
      <p:bold r:id="rId34"/>
      <p:italic r:id="rId35"/>
      <p:boldItalic r:id="rId36"/>
    </p:embeddedFont>
    <p:embeddedFont>
      <p:font typeface="72 Brand" panose="020B0504030603020204" pitchFamily="34" charset="0"/>
      <p:regular r:id="rId37"/>
      <p:bold r:id="rId38"/>
      <p:italic r:id="rId39"/>
      <p:boldItalic r:id="rId40"/>
    </p:embeddedFont>
    <p:embeddedFont>
      <p:font typeface="72 Brand Medium" panose="020B0504030603020204" pitchFamily="34" charset="0"/>
      <p:regular r:id="rId41"/>
      <p:italic r:id="rId42"/>
    </p:embeddedFont>
  </p:embeddedFontLst>
  <p:custDataLst>
    <p:tags r:id="rId43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0CED"/>
    <a:srgbClr val="9B76FF"/>
    <a:srgbClr val="A9B4BE"/>
    <a:srgbClr val="9876FF"/>
    <a:srgbClr val="7F7F7F"/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70" autoAdjust="0"/>
    <p:restoredTop sz="54020" autoAdjust="0"/>
  </p:normalViewPr>
  <p:slideViewPr>
    <p:cSldViewPr snapToGrid="0" showGuides="1">
      <p:cViewPr varScale="1">
        <p:scale>
          <a:sx n="63" d="100"/>
          <a:sy n="63" d="100"/>
        </p:scale>
        <p:origin x="1952" y="176"/>
      </p:cViewPr>
      <p:guideLst/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61" d="100"/>
          <a:sy n="161" d="100"/>
        </p:scale>
        <p:origin x="4216" y="2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slide" Target="slides/slide2.xml"/><Relationship Id="rId39" Type="http://schemas.openxmlformats.org/officeDocument/2006/relationships/font" Target="fonts/font7.fntdata"/><Relationship Id="rId21" Type="http://schemas.openxmlformats.org/officeDocument/2006/relationships/customXml" Target="../customXml/item21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slide" Target="slides/slide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Master" Target="slideMasters/slideMaster1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" Target="slides/slide4.xml"/><Relationship Id="rId36" Type="http://schemas.openxmlformats.org/officeDocument/2006/relationships/font" Target="fonts/font4.fntdata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font" Target="fonts/font3.fntdata"/><Relationship Id="rId43" Type="http://schemas.openxmlformats.org/officeDocument/2006/relationships/tags" Target="tags/tag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slide" Target="slides/slide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customXml" Target="../customXml/item20.xml"/><Relationship Id="rId41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Say: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Imagine: a new employee just joined </a:t>
            </a:r>
            <a:r>
              <a:rPr lang="en-US" sz="1400" dirty="0" err="1"/>
              <a:t>BestRun</a:t>
            </a:r>
            <a:r>
              <a:rPr lang="en-US" sz="1400" dirty="0"/>
              <a:t> and completed their profile in SAP SuccessFactors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That single action kicks off a chain across multiple SAP systems — automatically, governed, and traceable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The AI agent: fetches the employee profile → retrieves HR policies → builds an onboarding plan → asks the manager to approve → only then creates the Purchase Requisition in S/4HANA and the Support Case in Service Cloud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No backend is touched without human approval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This is not a demo — you will build and setup every piece of this today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endParaRPr lang="en-US" sz="1400" dirty="0"/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"By the end, you will type 'Approved' in a terminal and watch SAP S/4HANA create a Purchase Requisition — triggered by an AI agent you built, governed by policies you configured."</a:t>
            </a:r>
          </a:p>
          <a:p>
            <a:endParaRPr lang="en-US" dirty="0"/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The four MCP Servers you will build: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1. Employee Lookup — API Composition (Business Data Graph) unifies 10+ SuccessFactors APIs into 2 clean entities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2. HR Policy Lookup — RAG via SAP AI Launchpad Orchestration with Document Grounding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3. Purchase Requisition — Integration Flow → SAP S/4HANA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4. Support Case — Direct to SAP Service Cloud V2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endParaRPr lang="en-US" sz="1400" dirty="0"/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The MCP Gateway in SAP Integration Suite sits in front of ALL of them: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Authentication enforced on every call (IAS OIDC)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Principal Propagation — your identity flows all the way to SuccessFactors — it logs you, not a service account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Traceability and analytics on every tool call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The AI agent cannot bypass any of this — it goes through the gateway, period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endParaRPr lang="en-US" sz="1400" dirty="0"/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The event backbone: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SuccessFactors publishes a NEWHIRE event to SAP Advanced Event Mesh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Your personal queue receives it — your agent wakes up automatically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endParaRPr lang="en-US" sz="1400" dirty="0"/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The agent: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Pre-built Node.js agent powered by Claude via SAP AI Core</a:t>
            </a:r>
          </a:p>
          <a:p>
            <a:pPr marL="0" lvl="0" indent="0">
              <a:buClrTx/>
              <a:buSzPct val="100000"/>
              <a:buFont typeface="Arial" panose="020B0604020202020204" pitchFamily="34" charset="0"/>
              <a:buChar char="​"/>
            </a:pPr>
            <a:r>
              <a:rPr lang="en-US" sz="1400" dirty="0"/>
              <a:t>- You configure it with your MCP Server URLs — then </a:t>
            </a:r>
            <a:r>
              <a:rPr lang="en-US" sz="1400"/>
              <a:t>run it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02DC-FECD-B6C8-3301-01A89424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E3164-C921-CB32-838F-4A7E3E3F2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44F0-8148-B13C-DD84-547C6DF6F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9363C-358D-3EC4-7337-B69C4BED4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62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B913-259E-50A3-BEEB-3945F061A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FBD14-E346-3762-3413-D6A073D62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07CEF-AFA2-BBAC-12A9-99C13E568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F7724-6EAE-5078-743C-1F4A2039D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5704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brand.sap.com/" TargetMode="External"/><Relationship Id="rId2" Type="http://schemas.openxmlformats.org/officeDocument/2006/relationships/hyperlink" Target="https://brand.sap.com/media-library/index.html#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rand.sap.com/writing-assistant" TargetMode="External"/><Relationship Id="rId4" Type="http://schemas.openxmlformats.org/officeDocument/2006/relationships/hyperlink" Target="https://brand.sap.com/naming-center#/dashboard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ROGRAM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B522FD7-34BA-927B-D618-5CD508C33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46137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4DFEDD09-89E3-C1C8-D68C-F1BA5CE2BE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0" y="5994000"/>
            <a:ext cx="1769400" cy="360000"/>
          </a:xfrm>
          <a:prstGeom prst="rect">
            <a:avLst/>
          </a:prstGeom>
        </p:spPr>
      </p:pic>
      <p:sp>
        <p:nvSpPr>
          <p:cNvPr id="8" name="Text placeholder - column 1">
            <a:extLst>
              <a:ext uri="{FF2B5EF4-FFF2-40B4-BE49-F238E27FC236}">
                <a16:creationId xmlns:a16="http://schemas.microsoft.com/office/drawing/2014/main" id="{786EF529-E051-CFA5-5B3F-052C53E47E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8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9" name="Text placeholder - column 1">
            <a:extLst>
              <a:ext uri="{FF2B5EF4-FFF2-40B4-BE49-F238E27FC236}">
                <a16:creationId xmlns:a16="http://schemas.microsoft.com/office/drawing/2014/main" id="{AE6562C8-EA7A-7D19-DC5A-007433814C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38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57C2EE1-F4E5-7002-410A-84F69E97DC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4000" y="504000"/>
            <a:ext cx="1520190" cy="4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99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46137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614C4CD1-CA16-667F-1324-FFDCB5364C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0" y="5994000"/>
            <a:ext cx="1769400" cy="360000"/>
          </a:xfrm>
          <a:prstGeom prst="rect">
            <a:avLst/>
          </a:prstGeom>
        </p:spPr>
      </p:pic>
      <p:sp>
        <p:nvSpPr>
          <p:cNvPr id="13" name="Text placeholder - column 1">
            <a:extLst>
              <a:ext uri="{FF2B5EF4-FFF2-40B4-BE49-F238E27FC236}">
                <a16:creationId xmlns:a16="http://schemas.microsoft.com/office/drawing/2014/main" id="{9D147CEE-58B3-593B-5622-25B0A97FB7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8" y="4027469"/>
            <a:ext cx="4271575" cy="50343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SAP</a:t>
            </a:r>
          </a:p>
          <a:p>
            <a:pPr lvl="0"/>
            <a:r>
              <a:rPr lang="en-US" dirty="0"/>
              <a:t>Speaker Name 2, SAP</a:t>
            </a:r>
          </a:p>
        </p:txBody>
      </p:sp>
      <p:sp>
        <p:nvSpPr>
          <p:cNvPr id="14" name="Text placeholder - column 1">
            <a:extLst>
              <a:ext uri="{FF2B5EF4-FFF2-40B4-BE49-F238E27FC236}">
                <a16:creationId xmlns:a16="http://schemas.microsoft.com/office/drawing/2014/main" id="{21376C50-27A5-3F57-3C0C-65BF638BF4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3238" y="4623706"/>
            <a:ext cx="4271575" cy="23115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Char char="​"/>
              <a:tabLst/>
              <a:defRPr/>
            </a:pPr>
            <a:r>
              <a:rPr lang="en-US"/>
              <a:t>Month Year</a:t>
            </a:r>
          </a:p>
        </p:txBody>
      </p:sp>
      <p:pic>
        <p:nvPicPr>
          <p:cNvPr id="17" name="Grafik 16" descr="Ein Bild, das Kreativität enthält.&#10;&#10;KI-generierte Inhalte können fehlerhaft sein.">
            <a:extLst>
              <a:ext uri="{FF2B5EF4-FFF2-40B4-BE49-F238E27FC236}">
                <a16:creationId xmlns:a16="http://schemas.microsoft.com/office/drawing/2014/main" id="{E86B94FA-55E0-E124-51CC-F9DB00F4AE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456" y="1049819"/>
            <a:ext cx="914919" cy="8995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A49BC91-D674-5C87-003F-88B6B2F601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5571" y="4966284"/>
            <a:ext cx="1779235" cy="52094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1777F3A-13DE-2F3E-CADF-8DEFD30B5A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59107" y="1708714"/>
            <a:ext cx="1478684" cy="4329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B81961-2AAD-F5C6-1C25-3BC153AE9A0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4000" y="504000"/>
            <a:ext cx="1520190" cy="46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3B8396E-6011-3F08-15E2-C30BF2D37C7E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title">
            <a:extLst>
              <a:ext uri="{FF2B5EF4-FFF2-40B4-BE49-F238E27FC236}">
                <a16:creationId xmlns:a16="http://schemas.microsoft.com/office/drawing/2014/main" id="{C76D203B-1FA5-4F78-E166-9F9D19E1C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03D31A1-860E-07F5-25F1-D60C2D4C3D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36594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title">
            <a:extLst>
              <a:ext uri="{FF2B5EF4-FFF2-40B4-BE49-F238E27FC236}">
                <a16:creationId xmlns:a16="http://schemas.microsoft.com/office/drawing/2014/main" id="{C76D203B-1FA5-4F78-E166-9F9D19E1C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03D31A1-860E-07F5-25F1-D60C2D4C3D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FB4D86-827B-C955-467C-5E03B7722774}"/>
              </a:ext>
            </a:extLst>
          </p:cNvPr>
          <p:cNvSpPr txBox="1"/>
          <p:nvPr userDrawn="1"/>
        </p:nvSpPr>
        <p:spPr>
          <a:xfrm>
            <a:off x="10469366" y="482885"/>
            <a:ext cx="65" cy="215444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de-DE" sz="1400" kern="0" err="1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2092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text">
            <a:extLst>
              <a:ext uri="{FF2B5EF4-FFF2-40B4-BE49-F238E27FC236}">
                <a16:creationId xmlns:a16="http://schemas.microsoft.com/office/drawing/2014/main" id="{C50D8627-0891-7011-51F9-5F0EFE3B31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2830265"/>
            <a:ext cx="7388249" cy="1197469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6399E59-3AA9-5516-1877-1DD1610248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5571" y="4989239"/>
            <a:ext cx="1779235" cy="5209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4377FA5-352B-9632-FC21-3804CE9BDB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504000" y="1708714"/>
            <a:ext cx="1478684" cy="4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129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text">
            <a:extLst>
              <a:ext uri="{FF2B5EF4-FFF2-40B4-BE49-F238E27FC236}">
                <a16:creationId xmlns:a16="http://schemas.microsoft.com/office/drawing/2014/main" id="{C50D8627-0891-7011-51F9-5F0EFE3B31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2830265"/>
            <a:ext cx="7388249" cy="1197469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FBD5D76-9B94-60DF-FE99-EC16000CA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337374" y="5930411"/>
            <a:ext cx="1478684" cy="4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594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6777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DF24811-363C-F655-8415-4749FBA82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Text placeholder - column 2">
            <a:extLst>
              <a:ext uri="{FF2B5EF4-FFF2-40B4-BE49-F238E27FC236}">
                <a16:creationId xmlns:a16="http://schemas.microsoft.com/office/drawing/2014/main" id="{415C8346-21F7-9DA9-BFAA-30D09B4475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4333" y="1888442"/>
            <a:ext cx="4924337" cy="422805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7FDD697-9424-953C-44AF-986203176840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E28D954A-5A56-90C8-6DC3-DCB2DCA29C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3238" y="1557337"/>
            <a:ext cx="5465762" cy="4795837"/>
          </a:xfrm>
          <a:prstGeom prst="roundRect">
            <a:avLst>
              <a:gd name="adj" fmla="val 6689"/>
            </a:avLst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0035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C19B51F-E605-CD11-8911-4AE4E40AA5D7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00FB2C0-3A70-0145-5278-16836077950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EB1528E-7FDA-B8F1-2A84-B2BDEE108625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9876B324-50CA-1AEB-C3AC-95B7A65BDFA8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232592E4-804C-3253-1068-933C4F72DF74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DC2A50B-84CE-588D-BC0D-03AC792760D2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image, tex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401F1F-FF79-001F-ABCA-4DFC3B4530EE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, image (1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53B90D7-F65B-FA3E-37CD-D51694E3DEAC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E84DBC1-090A-95E1-74B7-FAD0D3E09967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1509204"/>
            <a:ext cx="9282112" cy="310352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“Add Quote.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consetetur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sadipscing</a:t>
            </a:r>
            <a:r>
              <a:rPr lang="en-GB"/>
              <a:t> </a:t>
            </a:r>
            <a:r>
              <a:rPr lang="en-GB" err="1"/>
              <a:t>elitr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nonumy</a:t>
            </a:r>
            <a:r>
              <a:rPr lang="en-GB"/>
              <a:t> </a:t>
            </a:r>
            <a:r>
              <a:rPr lang="en-GB" err="1"/>
              <a:t>eirmod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invidunt.</a:t>
            </a:r>
            <a:r>
              <a:rPr lang="en-US" dirty="0"/>
              <a:t>”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55738" y="4956960"/>
            <a:ext cx="9282112" cy="5207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Speaker,</a:t>
            </a:r>
          </a:p>
          <a:p>
            <a:pPr lvl="0"/>
            <a:r>
              <a:rPr lang="en-GB" dirty="0"/>
              <a:t>Company, Role</a:t>
            </a:r>
            <a:endParaRPr lang="en-DE" dirty="0"/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EE0764F-F0E6-FCF5-6C3D-B8A4EF090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337374" y="5842412"/>
            <a:ext cx="1779235" cy="52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What’s on your mind?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You ask, we answer.</a:t>
            </a: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260842"/>
            <a:ext cx="6704011" cy="92333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solidFill>
                  <a:srgbClr val="A9B4BE"/>
                </a:solidFill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 dirty="0">
                <a:solidFill>
                  <a:srgbClr val="A9B4BE"/>
                </a:solidFill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solidFill>
                <a:srgbClr val="A9B4BE"/>
              </a:solidFill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LogoBlue-Dynamic" descr="{&quot;templafy&quot;:{&quot;id&quot;:&quot;90617327-e095-4f73-96d6-9f57f603f71c&quot;}}">
            <a:extLst>
              <a:ext uri="{FF2B5EF4-FFF2-40B4-BE49-F238E27FC236}">
                <a16:creationId xmlns:a16="http://schemas.microsoft.com/office/drawing/2014/main" id="{380C8CE1-5F08-0496-C85F-7E8DEB4E95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5665526"/>
            <a:ext cx="727192" cy="36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BE0289D-AD57-A93E-42DC-0CF0C908AD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9920" y="3255555"/>
            <a:ext cx="5835333" cy="106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28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28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1886639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3370839" y="1520825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503238" y="1520825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1886639"/>
            <a:ext cx="2607498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1865573"/>
            <a:ext cx="260749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218735" y="1520825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075009" y="1520825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1886639"/>
            <a:ext cx="2607498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Tx/>
              <a:buNone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4839583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391560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2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3904728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3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3896103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4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3891295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5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5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132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9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0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5.xml"/><Relationship Id="rId63" Type="http://schemas.openxmlformats.org/officeDocument/2006/relationships/tags" Target="../tags/tag36.xml"/><Relationship Id="rId84" Type="http://schemas.openxmlformats.org/officeDocument/2006/relationships/tags" Target="../tags/tag57.xml"/><Relationship Id="rId138" Type="http://schemas.openxmlformats.org/officeDocument/2006/relationships/tags" Target="../tags/tag111.xml"/><Relationship Id="rId107" Type="http://schemas.openxmlformats.org/officeDocument/2006/relationships/tags" Target="../tags/tag80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5.xml"/><Relationship Id="rId53" Type="http://schemas.openxmlformats.org/officeDocument/2006/relationships/tags" Target="../tags/tag26.xml"/><Relationship Id="rId74" Type="http://schemas.openxmlformats.org/officeDocument/2006/relationships/tags" Target="../tags/tag47.xml"/><Relationship Id="rId128" Type="http://schemas.openxmlformats.org/officeDocument/2006/relationships/tags" Target="../tags/tag101.xml"/><Relationship Id="rId149" Type="http://schemas.openxmlformats.org/officeDocument/2006/relationships/tags" Target="../tags/tag122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8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6.xml"/><Relationship Id="rId48" Type="http://schemas.openxmlformats.org/officeDocument/2006/relationships/tags" Target="../tags/tag21.xml"/><Relationship Id="rId64" Type="http://schemas.openxmlformats.org/officeDocument/2006/relationships/tags" Target="../tags/tag37.xml"/><Relationship Id="rId69" Type="http://schemas.openxmlformats.org/officeDocument/2006/relationships/tags" Target="../tags/tag42.xml"/><Relationship Id="rId113" Type="http://schemas.openxmlformats.org/officeDocument/2006/relationships/tags" Target="../tags/tag86.xml"/><Relationship Id="rId118" Type="http://schemas.openxmlformats.org/officeDocument/2006/relationships/tags" Target="../tags/tag91.xml"/><Relationship Id="rId134" Type="http://schemas.openxmlformats.org/officeDocument/2006/relationships/tags" Target="../tags/tag107.xml"/><Relationship Id="rId139" Type="http://schemas.openxmlformats.org/officeDocument/2006/relationships/tags" Target="../tags/tag112.xml"/><Relationship Id="rId80" Type="http://schemas.openxmlformats.org/officeDocument/2006/relationships/tags" Target="../tags/tag53.xml"/><Relationship Id="rId85" Type="http://schemas.openxmlformats.org/officeDocument/2006/relationships/tags" Target="../tags/tag58.xml"/><Relationship Id="rId150" Type="http://schemas.openxmlformats.org/officeDocument/2006/relationships/tags" Target="../tags/tag12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6.xml"/><Relationship Id="rId38" Type="http://schemas.openxmlformats.org/officeDocument/2006/relationships/tags" Target="../tags/tag11.xml"/><Relationship Id="rId59" Type="http://schemas.openxmlformats.org/officeDocument/2006/relationships/tags" Target="../tags/tag32.xml"/><Relationship Id="rId103" Type="http://schemas.openxmlformats.org/officeDocument/2006/relationships/tags" Target="../tags/tag76.xml"/><Relationship Id="rId108" Type="http://schemas.openxmlformats.org/officeDocument/2006/relationships/tags" Target="../tags/tag81.xml"/><Relationship Id="rId124" Type="http://schemas.openxmlformats.org/officeDocument/2006/relationships/tags" Target="../tags/tag97.xml"/><Relationship Id="rId129" Type="http://schemas.openxmlformats.org/officeDocument/2006/relationships/tags" Target="../tags/tag102.xml"/><Relationship Id="rId54" Type="http://schemas.openxmlformats.org/officeDocument/2006/relationships/tags" Target="../tags/tag27.xml"/><Relationship Id="rId70" Type="http://schemas.openxmlformats.org/officeDocument/2006/relationships/tags" Target="../tags/tag43.xml"/><Relationship Id="rId75" Type="http://schemas.openxmlformats.org/officeDocument/2006/relationships/tags" Target="../tags/tag48.xml"/><Relationship Id="rId91" Type="http://schemas.openxmlformats.org/officeDocument/2006/relationships/tags" Target="../tags/tag64.xml"/><Relationship Id="rId96" Type="http://schemas.openxmlformats.org/officeDocument/2006/relationships/tags" Target="../tags/tag69.xml"/><Relationship Id="rId140" Type="http://schemas.openxmlformats.org/officeDocument/2006/relationships/tags" Target="../tags/tag113.xml"/><Relationship Id="rId145" Type="http://schemas.openxmlformats.org/officeDocument/2006/relationships/tags" Target="../tags/tag11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49" Type="http://schemas.openxmlformats.org/officeDocument/2006/relationships/tags" Target="../tags/tag22.xml"/><Relationship Id="rId114" Type="http://schemas.openxmlformats.org/officeDocument/2006/relationships/tags" Target="../tags/tag87.xml"/><Relationship Id="rId119" Type="http://schemas.openxmlformats.org/officeDocument/2006/relationships/tags" Target="../tags/tag92.xml"/><Relationship Id="rId44" Type="http://schemas.openxmlformats.org/officeDocument/2006/relationships/tags" Target="../tags/tag17.xml"/><Relationship Id="rId60" Type="http://schemas.openxmlformats.org/officeDocument/2006/relationships/tags" Target="../tags/tag33.xml"/><Relationship Id="rId65" Type="http://schemas.openxmlformats.org/officeDocument/2006/relationships/tags" Target="../tags/tag38.xml"/><Relationship Id="rId81" Type="http://schemas.openxmlformats.org/officeDocument/2006/relationships/tags" Target="../tags/tag54.xml"/><Relationship Id="rId86" Type="http://schemas.openxmlformats.org/officeDocument/2006/relationships/tags" Target="../tags/tag59.xml"/><Relationship Id="rId130" Type="http://schemas.openxmlformats.org/officeDocument/2006/relationships/tags" Target="../tags/tag103.xml"/><Relationship Id="rId135" Type="http://schemas.openxmlformats.org/officeDocument/2006/relationships/tags" Target="../tags/tag108.xml"/><Relationship Id="rId151" Type="http://schemas.openxmlformats.org/officeDocument/2006/relationships/tags" Target="../tags/tag124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2.xml"/><Relationship Id="rId109" Type="http://schemas.openxmlformats.org/officeDocument/2006/relationships/tags" Target="../tags/tag82.xml"/><Relationship Id="rId34" Type="http://schemas.openxmlformats.org/officeDocument/2006/relationships/tags" Target="../tags/tag7.xml"/><Relationship Id="rId50" Type="http://schemas.openxmlformats.org/officeDocument/2006/relationships/tags" Target="../tags/tag23.xml"/><Relationship Id="rId55" Type="http://schemas.openxmlformats.org/officeDocument/2006/relationships/tags" Target="../tags/tag28.xml"/><Relationship Id="rId76" Type="http://schemas.openxmlformats.org/officeDocument/2006/relationships/tags" Target="../tags/tag49.xml"/><Relationship Id="rId97" Type="http://schemas.openxmlformats.org/officeDocument/2006/relationships/tags" Target="../tags/tag70.xml"/><Relationship Id="rId104" Type="http://schemas.openxmlformats.org/officeDocument/2006/relationships/tags" Target="../tags/tag77.xml"/><Relationship Id="rId120" Type="http://schemas.openxmlformats.org/officeDocument/2006/relationships/tags" Target="../tags/tag93.xml"/><Relationship Id="rId125" Type="http://schemas.openxmlformats.org/officeDocument/2006/relationships/tags" Target="../tags/tag98.xml"/><Relationship Id="rId141" Type="http://schemas.openxmlformats.org/officeDocument/2006/relationships/tags" Target="../tags/tag114.xml"/><Relationship Id="rId146" Type="http://schemas.openxmlformats.org/officeDocument/2006/relationships/tags" Target="../tags/tag119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4.xml"/><Relationship Id="rId92" Type="http://schemas.openxmlformats.org/officeDocument/2006/relationships/tags" Target="../tags/tag65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2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3.xml"/><Relationship Id="rId45" Type="http://schemas.openxmlformats.org/officeDocument/2006/relationships/tags" Target="../tags/tag18.xml"/><Relationship Id="rId66" Type="http://schemas.openxmlformats.org/officeDocument/2006/relationships/tags" Target="../tags/tag39.xml"/><Relationship Id="rId87" Type="http://schemas.openxmlformats.org/officeDocument/2006/relationships/tags" Target="../tags/tag60.xml"/><Relationship Id="rId110" Type="http://schemas.openxmlformats.org/officeDocument/2006/relationships/tags" Target="../tags/tag83.xml"/><Relationship Id="rId115" Type="http://schemas.openxmlformats.org/officeDocument/2006/relationships/tags" Target="../tags/tag88.xml"/><Relationship Id="rId131" Type="http://schemas.openxmlformats.org/officeDocument/2006/relationships/tags" Target="../tags/tag104.xml"/><Relationship Id="rId136" Type="http://schemas.openxmlformats.org/officeDocument/2006/relationships/tags" Target="../tags/tag109.xml"/><Relationship Id="rId61" Type="http://schemas.openxmlformats.org/officeDocument/2006/relationships/tags" Target="../tags/tag34.xml"/><Relationship Id="rId82" Type="http://schemas.openxmlformats.org/officeDocument/2006/relationships/tags" Target="../tags/tag5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3.xml"/><Relationship Id="rId35" Type="http://schemas.openxmlformats.org/officeDocument/2006/relationships/tags" Target="../tags/tag8.xml"/><Relationship Id="rId56" Type="http://schemas.openxmlformats.org/officeDocument/2006/relationships/tags" Target="../tags/tag29.xml"/><Relationship Id="rId77" Type="http://schemas.openxmlformats.org/officeDocument/2006/relationships/tags" Target="../tags/tag50.xml"/><Relationship Id="rId100" Type="http://schemas.openxmlformats.org/officeDocument/2006/relationships/tags" Target="../tags/tag73.xml"/><Relationship Id="rId105" Type="http://schemas.openxmlformats.org/officeDocument/2006/relationships/tags" Target="../tags/tag78.xml"/><Relationship Id="rId126" Type="http://schemas.openxmlformats.org/officeDocument/2006/relationships/tags" Target="../tags/tag99.xml"/><Relationship Id="rId147" Type="http://schemas.openxmlformats.org/officeDocument/2006/relationships/tags" Target="../tags/tag120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4.xml"/><Relationship Id="rId72" Type="http://schemas.openxmlformats.org/officeDocument/2006/relationships/tags" Target="../tags/tag45.xml"/><Relationship Id="rId93" Type="http://schemas.openxmlformats.org/officeDocument/2006/relationships/tags" Target="../tags/tag66.xml"/><Relationship Id="rId98" Type="http://schemas.openxmlformats.org/officeDocument/2006/relationships/tags" Target="../tags/tag71.xml"/><Relationship Id="rId121" Type="http://schemas.openxmlformats.org/officeDocument/2006/relationships/tags" Target="../tags/tag94.xml"/><Relationship Id="rId142" Type="http://schemas.openxmlformats.org/officeDocument/2006/relationships/tags" Target="../tags/tag115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9.xml"/><Relationship Id="rId67" Type="http://schemas.openxmlformats.org/officeDocument/2006/relationships/tags" Target="../tags/tag40.xml"/><Relationship Id="rId116" Type="http://schemas.openxmlformats.org/officeDocument/2006/relationships/tags" Target="../tags/tag89.xml"/><Relationship Id="rId137" Type="http://schemas.openxmlformats.org/officeDocument/2006/relationships/tags" Target="../tags/tag110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4.xml"/><Relationship Id="rId62" Type="http://schemas.openxmlformats.org/officeDocument/2006/relationships/tags" Target="../tags/tag35.xml"/><Relationship Id="rId83" Type="http://schemas.openxmlformats.org/officeDocument/2006/relationships/tags" Target="../tags/tag56.xml"/><Relationship Id="rId88" Type="http://schemas.openxmlformats.org/officeDocument/2006/relationships/tags" Target="../tags/tag61.xml"/><Relationship Id="rId111" Type="http://schemas.openxmlformats.org/officeDocument/2006/relationships/tags" Target="../tags/tag84.xml"/><Relationship Id="rId132" Type="http://schemas.openxmlformats.org/officeDocument/2006/relationships/tags" Target="../tags/tag105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9.xml"/><Relationship Id="rId57" Type="http://schemas.openxmlformats.org/officeDocument/2006/relationships/tags" Target="../tags/tag30.xml"/><Relationship Id="rId106" Type="http://schemas.openxmlformats.org/officeDocument/2006/relationships/tags" Target="../tags/tag79.xml"/><Relationship Id="rId127" Type="http://schemas.openxmlformats.org/officeDocument/2006/relationships/tags" Target="../tags/tag100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4.xml"/><Relationship Id="rId52" Type="http://schemas.openxmlformats.org/officeDocument/2006/relationships/tags" Target="../tags/tag25.xml"/><Relationship Id="rId73" Type="http://schemas.openxmlformats.org/officeDocument/2006/relationships/tags" Target="../tags/tag46.xml"/><Relationship Id="rId78" Type="http://schemas.openxmlformats.org/officeDocument/2006/relationships/tags" Target="../tags/tag51.xml"/><Relationship Id="rId94" Type="http://schemas.openxmlformats.org/officeDocument/2006/relationships/tags" Target="../tags/tag67.xml"/><Relationship Id="rId99" Type="http://schemas.openxmlformats.org/officeDocument/2006/relationships/tags" Target="../tags/tag72.xml"/><Relationship Id="rId101" Type="http://schemas.openxmlformats.org/officeDocument/2006/relationships/tags" Target="../tags/tag74.xml"/><Relationship Id="rId122" Type="http://schemas.openxmlformats.org/officeDocument/2006/relationships/tags" Target="../tags/tag95.xml"/><Relationship Id="rId143" Type="http://schemas.openxmlformats.org/officeDocument/2006/relationships/tags" Target="../tags/tag116.xml"/><Relationship Id="rId148" Type="http://schemas.openxmlformats.org/officeDocument/2006/relationships/tags" Target="../tags/tag12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20.xml"/><Relationship Id="rId68" Type="http://schemas.openxmlformats.org/officeDocument/2006/relationships/tags" Target="../tags/tag41.xml"/><Relationship Id="rId89" Type="http://schemas.openxmlformats.org/officeDocument/2006/relationships/tags" Target="../tags/tag62.xml"/><Relationship Id="rId112" Type="http://schemas.openxmlformats.org/officeDocument/2006/relationships/tags" Target="../tags/tag85.xml"/><Relationship Id="rId133" Type="http://schemas.openxmlformats.org/officeDocument/2006/relationships/tags" Target="../tags/tag106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0.xml"/><Relationship Id="rId58" Type="http://schemas.openxmlformats.org/officeDocument/2006/relationships/tags" Target="../tags/tag31.xml"/><Relationship Id="rId79" Type="http://schemas.openxmlformats.org/officeDocument/2006/relationships/tags" Target="../tags/tag52.xml"/><Relationship Id="rId102" Type="http://schemas.openxmlformats.org/officeDocument/2006/relationships/tags" Target="../tags/tag75.xml"/><Relationship Id="rId123" Type="http://schemas.openxmlformats.org/officeDocument/2006/relationships/tags" Target="../tags/tag96.xml"/><Relationship Id="rId144" Type="http://schemas.openxmlformats.org/officeDocument/2006/relationships/tags" Target="../tags/tag117.xml"/><Relationship Id="rId90" Type="http://schemas.openxmlformats.org/officeDocument/2006/relationships/tags" Target="../tags/tag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Start typing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  <a:p>
            <a:pPr lvl="0"/>
            <a:endParaRPr lang="en-US" noProof="0" dirty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2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780" r:id="rId2"/>
    <p:sldLayoutId id="2147483741" r:id="rId3"/>
    <p:sldLayoutId id="2147483832" r:id="rId4"/>
    <p:sldLayoutId id="2147483841" r:id="rId5"/>
    <p:sldLayoutId id="2147483837" r:id="rId6"/>
    <p:sldLayoutId id="2147483836" r:id="rId7"/>
    <p:sldLayoutId id="2147483834" r:id="rId8"/>
    <p:sldLayoutId id="2147483840" r:id="rId9"/>
    <p:sldLayoutId id="2147483812" r:id="rId10"/>
    <p:sldLayoutId id="2147483774" r:id="rId11"/>
    <p:sldLayoutId id="2147483745" r:id="rId12"/>
    <p:sldLayoutId id="2147483760" r:id="rId13"/>
    <p:sldLayoutId id="2147483768" r:id="rId14"/>
    <p:sldLayoutId id="2147483769" r:id="rId15"/>
    <p:sldLayoutId id="2147483770" r:id="rId16"/>
    <p:sldLayoutId id="2147483757" r:id="rId17"/>
    <p:sldLayoutId id="2147483771" r:id="rId18"/>
    <p:sldLayoutId id="2147483763" r:id="rId19"/>
    <p:sldLayoutId id="2147483751" r:id="rId20"/>
    <p:sldLayoutId id="2147483825" r:id="rId21"/>
    <p:sldLayoutId id="2147483826" r:id="rId22"/>
    <p:sldLayoutId id="2147483740" r:id="rId23"/>
    <p:sldLayoutId id="2147483824" r:id="rId24"/>
    <p:sldLayoutId id="2147483829" r:id="rId25"/>
    <p:sldLayoutId id="2147483843" r:id="rId26"/>
    <p:sldLayoutId id="2147483844" r:id="rId27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  <p15:guide id="27" orient="horz" pos="9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FA372D-A68A-2153-020F-EF5F1C8B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670529"/>
            <a:ext cx="10698162" cy="997196"/>
          </a:xfrm>
        </p:spPr>
        <p:txBody>
          <a:bodyPr/>
          <a:lstStyle/>
          <a:p>
            <a:r>
              <a:rPr lang="en-IN" b="1" dirty="0"/>
              <a:t>IN261 — Model context protocol (MCP) unlocked: Enable governed access to AI agents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C47F3F-BAFC-EF91-A329-31B33DCB17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3238" y="4027469"/>
            <a:ext cx="3861933" cy="503434"/>
          </a:xfrm>
        </p:spPr>
        <p:txBody>
          <a:bodyPr>
            <a:normAutofit/>
          </a:bodyPr>
          <a:lstStyle/>
          <a:p>
            <a:r>
              <a:rPr lang="en-IN" dirty="0"/>
              <a:t>Markus Winter</a:t>
            </a:r>
          </a:p>
          <a:p>
            <a:r>
              <a:rPr lang="en-IN" dirty="0"/>
              <a:t>VP &amp; Head of Product Management, SAP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08CB1-0851-26C2-A46D-02537781BAFC}"/>
              </a:ext>
            </a:extLst>
          </p:cNvPr>
          <p:cNvSpPr txBox="1"/>
          <p:nvPr/>
        </p:nvSpPr>
        <p:spPr>
          <a:xfrm>
            <a:off x="503238" y="4665615"/>
            <a:ext cx="3655105" cy="58477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R="0" indent="0" defTabSz="1088558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 b="0" i="0" baseline="0">
                <a:solidFill>
                  <a:schemeClr val="bg1"/>
                </a:solidFill>
                <a:latin typeface="+mn-lt"/>
              </a:defRPr>
            </a:lvl1pPr>
            <a:lvl2pPr marL="252000" indent="-252000" defTabSz="1088558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"/>
              <a:defRPr sz="1800" b="0" i="0">
                <a:latin typeface="+mn-lt"/>
              </a:defRPr>
            </a:lvl2pPr>
            <a:lvl3pPr marL="504000" indent="-252000" defTabSz="1088558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b="0" i="0" noProof="0" dirty="0" smtClean="0">
                <a:latin typeface="+mn-lt"/>
              </a:defRPr>
            </a:lvl3pPr>
            <a:lvl4pPr marL="756000" indent="-252000" defTabSz="1088558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b="0" i="0">
                <a:latin typeface="+mn-lt"/>
              </a:defRPr>
            </a:lvl4pPr>
            <a:lvl5pPr marL="0" indent="0" defTabSz="1088558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baseline="0">
                <a:latin typeface="+mj-lt"/>
              </a:defRPr>
            </a:lvl5pPr>
            <a:lvl6pPr marL="0" indent="0" defTabSz="1088558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6pPr>
            <a:lvl7pPr marL="0" indent="0" defTabSz="1088558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>
                <a:latin typeface="+mj-lt"/>
              </a:defRPr>
            </a:lvl7pPr>
            <a:lvl8pPr marL="0" indent="0" defTabSz="1088558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/>
            </a:lvl8pPr>
            <a:lvl9pPr marL="0" indent="0" defTabSz="1088558">
              <a:spcBef>
                <a:spcPts val="600"/>
              </a:spcBef>
              <a:buFont typeface="Arial" pitchFamily="34" charset="0"/>
              <a:buChar char="​"/>
              <a:defRPr sz="3600">
                <a:latin typeface="+mj-lt"/>
              </a:defRPr>
            </a:lvl9pPr>
          </a:lstStyle>
          <a:p>
            <a:r>
              <a:rPr lang="en-IN" dirty="0"/>
              <a:t>Emily Mui</a:t>
            </a:r>
          </a:p>
          <a:p>
            <a:r>
              <a:rPr lang="en-IN" dirty="0"/>
              <a:t>VP of Product Marketing, SAP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A57C6B2-B9FD-2050-7CB5-F378F68059BF}"/>
              </a:ext>
            </a:extLst>
          </p:cNvPr>
          <p:cNvSpPr txBox="1">
            <a:spLocks/>
          </p:cNvSpPr>
          <p:nvPr/>
        </p:nvSpPr>
        <p:spPr bwMode="black">
          <a:xfrm>
            <a:off x="6261781" y="4027469"/>
            <a:ext cx="4210276" cy="5034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6000" indent="-25200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1088558" rtl="0" eaLnBrk="1" latinLnBrk="0" hangingPunct="1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1088558" rtl="0" eaLnBrk="1" latinLnBrk="0" hangingPunct="1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1088558" rtl="0" eaLnBrk="1" latinLnBrk="0" hangingPunct="1">
              <a:spcBef>
                <a:spcPts val="600"/>
              </a:spcBef>
              <a:buFont typeface="Arial" pitchFamily="34" charset="0"/>
              <a:buChar char="​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Sunny Kapoor</a:t>
            </a:r>
          </a:p>
          <a:p>
            <a:pPr>
              <a:lnSpc>
                <a:spcPct val="120000"/>
              </a:lnSpc>
            </a:pPr>
            <a:r>
              <a:rPr lang="en-IN" dirty="0"/>
              <a:t>Lead Product Manager, SAP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E402C-5360-A96D-090D-95FF669331C8}"/>
              </a:ext>
            </a:extLst>
          </p:cNvPr>
          <p:cNvSpPr txBox="1"/>
          <p:nvPr/>
        </p:nvSpPr>
        <p:spPr>
          <a:xfrm>
            <a:off x="6261781" y="4665615"/>
            <a:ext cx="3655105" cy="58477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R="0" indent="0" defTabSz="1088558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72 Brand" panose="02000000000000000000" pitchFamily="2" charset="0"/>
              <a:buNone/>
              <a:tabLst/>
              <a:defRPr sz="1600" b="0" i="0" baseline="0">
                <a:solidFill>
                  <a:schemeClr val="bg1"/>
                </a:solidFill>
                <a:latin typeface="+mn-lt"/>
              </a:defRPr>
            </a:lvl1pPr>
            <a:lvl2pPr marL="252000" indent="-252000" defTabSz="1088558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"/>
              <a:defRPr sz="1800" b="0" i="0">
                <a:latin typeface="+mn-lt"/>
              </a:defRPr>
            </a:lvl2pPr>
            <a:lvl3pPr marL="504000" indent="-252000" defTabSz="1088558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lang="en-US" sz="1600" b="0" i="0" noProof="0" dirty="0" smtClean="0">
                <a:latin typeface="+mn-lt"/>
              </a:defRPr>
            </a:lvl3pPr>
            <a:lvl4pPr marL="756000" indent="-252000" defTabSz="1088558">
              <a:spcBef>
                <a:spcPts val="6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"/>
              <a:defRPr b="0" i="0">
                <a:latin typeface="+mn-lt"/>
              </a:defRPr>
            </a:lvl4pPr>
            <a:lvl5pPr marL="0" indent="0" defTabSz="1088558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​"/>
              <a:defRPr sz="1400" b="0" i="0" baseline="0">
                <a:latin typeface="+mj-lt"/>
              </a:defRPr>
            </a:lvl5pPr>
            <a:lvl6pPr marL="0" indent="0" defTabSz="1088558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6pPr>
            <a:lvl7pPr marL="0" indent="0" defTabSz="1088558">
              <a:lnSpc>
                <a:spcPct val="120000"/>
              </a:lnSpc>
              <a:spcBef>
                <a:spcPts val="300"/>
              </a:spcBef>
              <a:buFont typeface="Arial" pitchFamily="34" charset="0"/>
              <a:buChar char="​"/>
              <a:defRPr sz="800">
                <a:latin typeface="+mj-lt"/>
              </a:defRPr>
            </a:lvl7pPr>
            <a:lvl8pPr marL="0" indent="0" defTabSz="1088558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​"/>
              <a:defRPr sz="800"/>
            </a:lvl8pPr>
            <a:lvl9pPr marL="0" indent="0" defTabSz="1088558">
              <a:spcBef>
                <a:spcPts val="600"/>
              </a:spcBef>
              <a:buFont typeface="Arial" pitchFamily="34" charset="0"/>
              <a:buChar char="​"/>
              <a:defRPr sz="3600">
                <a:latin typeface="+mj-lt"/>
              </a:defRPr>
            </a:lvl9pPr>
          </a:lstStyle>
          <a:p>
            <a:r>
              <a:rPr lang="en-IN" dirty="0"/>
              <a:t>Bruno Renzo</a:t>
            </a:r>
          </a:p>
          <a:p>
            <a:pPr>
              <a:lnSpc>
                <a:spcPct val="120000"/>
              </a:lnSpc>
            </a:pPr>
            <a:r>
              <a:rPr lang="en-IN" dirty="0"/>
              <a:t>Lead Product Manager, SAP</a:t>
            </a:r>
          </a:p>
        </p:txBody>
      </p:sp>
    </p:spTree>
    <p:extLst>
      <p:ext uri="{BB962C8B-B14F-4D97-AF65-F5344CB8AC3E}">
        <p14:creationId xmlns:p14="http://schemas.microsoft.com/office/powerpoint/2010/main" val="399994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BEA6B7D-2B5E-9018-FECA-C1752D95DE52}"/>
              </a:ext>
            </a:extLst>
          </p:cNvPr>
          <p:cNvCxnSpPr>
            <a:cxnSpLocks/>
            <a:endCxn id="106" idx="1"/>
          </p:cNvCxnSpPr>
          <p:nvPr/>
        </p:nvCxnSpPr>
        <p:spPr>
          <a:xfrm flipV="1">
            <a:off x="6083071" y="2940110"/>
            <a:ext cx="6417" cy="833358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</p:cxnSp>
      <p:sp>
        <p:nvSpPr>
          <p:cNvPr id="3" name="Shape 1"/>
          <p:cNvSpPr/>
          <p:nvPr/>
        </p:nvSpPr>
        <p:spPr>
          <a:xfrm>
            <a:off x="3996941" y="1733879"/>
            <a:ext cx="1723461" cy="4519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34023" y="1737632"/>
            <a:ext cx="182521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85600" y="4868101"/>
            <a:ext cx="0" cy="444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95135" y="3877501"/>
            <a:ext cx="56936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32006" y="2939910"/>
            <a:ext cx="0" cy="8731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2364502" y="4867314"/>
            <a:ext cx="3711022" cy="78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64501" y="3877501"/>
            <a:ext cx="0" cy="990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32006" y="2939909"/>
            <a:ext cx="125359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18264" y="5723917"/>
            <a:ext cx="188616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4092132" y="5723464"/>
            <a:ext cx="1577637" cy="169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55222" y="5723464"/>
            <a:ext cx="18040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76247" y="5723917"/>
            <a:ext cx="156097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08496" y="1613606"/>
            <a:ext cx="525577" cy="22890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API key</a:t>
            </a:r>
            <a:endParaRPr lang="en-US" sz="1000" b="1" dirty="0">
              <a:solidFill>
                <a:srgbClr val="470CED"/>
              </a:solidFill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49DB4CF-9A76-925D-C857-28DF764CFCE2}"/>
              </a:ext>
            </a:extLst>
          </p:cNvPr>
          <p:cNvGrpSpPr/>
          <p:nvPr/>
        </p:nvGrpSpPr>
        <p:grpSpPr>
          <a:xfrm>
            <a:off x="5645721" y="3218336"/>
            <a:ext cx="932766" cy="355600"/>
            <a:chOff x="6458665" y="2855745"/>
            <a:chExt cx="932766" cy="355600"/>
          </a:xfrm>
        </p:grpSpPr>
        <p:sp>
          <p:nvSpPr>
            <p:cNvPr id="33" name="Shape 31"/>
            <p:cNvSpPr/>
            <p:nvPr/>
          </p:nvSpPr>
          <p:spPr>
            <a:xfrm>
              <a:off x="6458665" y="2855745"/>
              <a:ext cx="932766" cy="355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6480663" y="2913053"/>
              <a:ext cx="895325" cy="254095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none" lIns="19050" tIns="19050" rIns="19050" bIns="19050" rtlCol="0" anchor="ctr"/>
            <a:lstStyle/>
            <a:p>
              <a:pPr algn="ctr">
                <a:lnSpc>
                  <a:spcPts val="1000"/>
                </a:lnSpc>
              </a:pPr>
              <a:r>
                <a:rPr lang="en-US" sz="1000" b="1" dirty="0">
                  <a:solidFill>
                    <a:srgbClr val="470CED"/>
                  </a:solidFill>
                  <a:latin typeface="72" pitchFamily="34" charset="0"/>
                  <a:ea typeface="72" pitchFamily="34" charset="-122"/>
                  <a:cs typeface="72" pitchFamily="34" charset="-120"/>
                </a:rPr>
                <a:t>MCP tool calls</a:t>
              </a:r>
              <a:endParaRPr lang="en-US" sz="1000" b="1" dirty="0">
                <a:solidFill>
                  <a:srgbClr val="470CED"/>
                </a:solidFill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3302293" y="4760004"/>
            <a:ext cx="1649661" cy="29764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Get Employee and </a:t>
            </a:r>
          </a:p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Job Information Lookup</a:t>
            </a:r>
            <a:endParaRPr lang="en-US" sz="1000" b="1" dirty="0">
              <a:solidFill>
                <a:srgbClr val="470CED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4CB74B3-3175-1F13-E866-1C8A20957FF6}"/>
              </a:ext>
            </a:extLst>
          </p:cNvPr>
          <p:cNvGrpSpPr/>
          <p:nvPr/>
        </p:nvGrpSpPr>
        <p:grpSpPr>
          <a:xfrm>
            <a:off x="5025507" y="2751716"/>
            <a:ext cx="907405" cy="355600"/>
            <a:chOff x="3674837" y="2934599"/>
            <a:chExt cx="907405" cy="355600"/>
          </a:xfrm>
        </p:grpSpPr>
        <p:sp>
          <p:nvSpPr>
            <p:cNvPr id="41" name="Shape 39"/>
            <p:cNvSpPr/>
            <p:nvPr/>
          </p:nvSpPr>
          <p:spPr>
            <a:xfrm>
              <a:off x="3674837" y="2934599"/>
              <a:ext cx="907405" cy="355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3890737" y="3048899"/>
              <a:ext cx="475605" cy="127000"/>
            </a:xfrm>
            <a:prstGeom prst="rect">
              <a:avLst/>
            </a:prstGeom>
            <a:noFill/>
            <a:ln/>
          </p:spPr>
          <p:txBody>
            <a:bodyPr wrap="none" lIns="19050" tIns="19050" rIns="19050" bIns="19050" rtlCol="0" anchor="ctr"/>
            <a:lstStyle/>
            <a:p>
              <a:pPr algn="ctr">
                <a:lnSpc>
                  <a:spcPts val="1000"/>
                </a:lnSpc>
              </a:pPr>
              <a:r>
                <a:rPr lang="en-US" sz="1000" b="1" dirty="0">
                  <a:solidFill>
                    <a:srgbClr val="470CED"/>
                  </a:solidFill>
                  <a:latin typeface="72" pitchFamily="34" charset="0"/>
                  <a:ea typeface="72" pitchFamily="34" charset="-122"/>
                  <a:cs typeface="72" pitchFamily="34" charset="-120"/>
                </a:rPr>
                <a:t>LLM calls</a:t>
              </a:r>
              <a:endParaRPr lang="en-US" sz="1000" b="1" dirty="0">
                <a:solidFill>
                  <a:srgbClr val="470CED"/>
                </a:solidFill>
              </a:endParaRPr>
            </a:p>
          </p:txBody>
        </p:sp>
      </p:grpSp>
      <p:sp>
        <p:nvSpPr>
          <p:cNvPr id="44" name="Text 42"/>
          <p:cNvSpPr/>
          <p:nvPr/>
        </p:nvSpPr>
        <p:spPr>
          <a:xfrm>
            <a:off x="6678758" y="5613199"/>
            <a:ext cx="1356940" cy="23609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Create Support Case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58459" y="5571987"/>
            <a:ext cx="712416" cy="27222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Create PR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66" y="1468123"/>
            <a:ext cx="406400" cy="4064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504001" y="1909001"/>
            <a:ext cx="1240333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371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SuccessFactors</a:t>
            </a:r>
            <a:endParaRPr lang="en-US" sz="1000" b="1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400" y="1439101"/>
            <a:ext cx="406400" cy="40640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951958" y="1817561"/>
            <a:ext cx="2018090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Employee Onboarding 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AI Agent – SAP AI Core</a:t>
            </a:r>
            <a:endParaRPr lang="en-US" sz="1000" b="1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117" y="1531865"/>
            <a:ext cx="406400" cy="40640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807938" y="1817561"/>
            <a:ext cx="1516757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Developer Hub </a:t>
            </a:r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64" y="3371619"/>
            <a:ext cx="406400" cy="40640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332697" y="3804249"/>
            <a:ext cx="1522511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486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Employee Lookup MCP</a:t>
            </a:r>
          </a:p>
          <a:p>
            <a:pPr algn="ctr">
              <a:lnSpc>
                <a:spcPct val="100000"/>
              </a:lnSpc>
            </a:pPr>
            <a:r>
              <a:rPr lang="en-IN" sz="1000" b="1" dirty="0">
                <a:latin typeface="+mn-lt"/>
              </a:rPr>
              <a:t>SAP API Composition</a:t>
            </a:r>
            <a:r>
              <a:rPr lang="en-US" sz="1000" b="1" dirty="0">
                <a:solidFill>
                  <a:srgbClr val="000000"/>
                </a:solidFill>
                <a:latin typeface="+mn-lt"/>
                <a:ea typeface="72 Brand" pitchFamily="34" charset="-122"/>
                <a:cs typeface="72 Brand" pitchFamily="34" charset="-120"/>
              </a:rPr>
              <a:t> </a:t>
            </a:r>
          </a:p>
        </p:txBody>
      </p:sp>
      <p:sp>
        <p:nvSpPr>
          <p:cNvPr id="58" name="Text 50"/>
          <p:cNvSpPr/>
          <p:nvPr/>
        </p:nvSpPr>
        <p:spPr>
          <a:xfrm>
            <a:off x="2984718" y="3961321"/>
            <a:ext cx="124033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AI Core</a:t>
            </a:r>
            <a:endParaRPr lang="en-US" sz="1000" b="1" dirty="0"/>
          </a:p>
        </p:txBody>
      </p:sp>
      <p:sp>
        <p:nvSpPr>
          <p:cNvPr id="60" name="Text 51"/>
          <p:cNvSpPr/>
          <p:nvPr/>
        </p:nvSpPr>
        <p:spPr>
          <a:xfrm>
            <a:off x="5226671" y="4162973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Integration Suite 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MCP Gateway</a:t>
            </a:r>
            <a:endParaRPr lang="en-US" sz="1000" b="1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3519" y="3524245"/>
            <a:ext cx="406400" cy="40640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10426918" y="3890201"/>
            <a:ext cx="1680739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HR Policy Lookup MCP </a:t>
            </a:r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609" y="5462402"/>
            <a:ext cx="406400" cy="406400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434358" y="5971679"/>
            <a:ext cx="1379612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S/4HANA Equipment Ordering</a:t>
            </a:r>
            <a:endParaRPr lang="en-US" sz="1000" b="1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683" y="5478389"/>
            <a:ext cx="406400" cy="4064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2984666" y="5871401"/>
            <a:ext cx="1240385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Create S/4 Hana PR MCP</a:t>
            </a:r>
            <a:endParaRPr lang="en-US" sz="1000" b="1" dirty="0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2400" y="5401501"/>
            <a:ext cx="406400" cy="406400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270875" y="5738653"/>
            <a:ext cx="1543062" cy="4064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Manager Approval</a:t>
            </a:r>
          </a:p>
        </p:txBody>
      </p:sp>
      <p:sp>
        <p:nvSpPr>
          <p:cNvPr id="72" name="Text 57"/>
          <p:cNvSpPr/>
          <p:nvPr/>
        </p:nvSpPr>
        <p:spPr>
          <a:xfrm>
            <a:off x="7946151" y="5871401"/>
            <a:ext cx="1356940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Create Support Case MCP</a:t>
            </a:r>
            <a:endParaRPr lang="en-US" sz="1000" b="1" dirty="0"/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0634" y="5491225"/>
            <a:ext cx="406400" cy="406400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10205758" y="5973590"/>
            <a:ext cx="1276152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Service Cloud V2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</a:rPr>
              <a:t>System Access and Training Enrollment</a:t>
            </a:r>
            <a:endParaRPr lang="en-US" sz="1000" b="1" dirty="0"/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90335A9D-7FF3-91D2-8D31-300DCC317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2468" y="1535621"/>
            <a:ext cx="417491" cy="417491"/>
          </a:xfrm>
          <a:prstGeom prst="rect">
            <a:avLst/>
          </a:prstGeom>
        </p:spPr>
      </p:pic>
      <p:sp>
        <p:nvSpPr>
          <p:cNvPr id="77" name="Text 26">
            <a:extLst>
              <a:ext uri="{FF2B5EF4-FFF2-40B4-BE49-F238E27FC236}">
                <a16:creationId xmlns:a16="http://schemas.microsoft.com/office/drawing/2014/main" id="{5BE7B930-D5D7-353B-58EE-DEA9D61D2248}"/>
              </a:ext>
            </a:extLst>
          </p:cNvPr>
          <p:cNvSpPr/>
          <p:nvPr/>
        </p:nvSpPr>
        <p:spPr>
          <a:xfrm>
            <a:off x="3085794" y="1982819"/>
            <a:ext cx="1097552" cy="37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1D2D3E"/>
                </a:solidFill>
                <a:latin typeface="+mn-lt"/>
                <a:ea typeface="72 Bold" pitchFamily="34" charset="-122"/>
                <a:cs typeface="72 Bold" pitchFamily="34" charset="-120"/>
              </a:rPr>
              <a:t>SAP Integration Suite, advanced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1D2D3E"/>
                </a:solidFill>
                <a:latin typeface="+mn-lt"/>
                <a:ea typeface="72 Bold" pitchFamily="34" charset="-122"/>
                <a:cs typeface="72 Bold" pitchFamily="34" charset="-120"/>
              </a:rPr>
              <a:t>event mesh</a:t>
            </a:r>
            <a:endParaRPr lang="en-US" sz="1000" b="1" dirty="0">
              <a:solidFill>
                <a:srgbClr val="1D2D3E"/>
              </a:solidFill>
              <a:latin typeface="+mn-lt"/>
            </a:endParaRPr>
          </a:p>
        </p:txBody>
      </p:sp>
      <p:sp>
        <p:nvSpPr>
          <p:cNvPr id="78" name="Shape 1">
            <a:extLst>
              <a:ext uri="{FF2B5EF4-FFF2-40B4-BE49-F238E27FC236}">
                <a16:creationId xmlns:a16="http://schemas.microsoft.com/office/drawing/2014/main" id="{42B938F2-A3B6-840F-C48C-3E2AF7852DC0}"/>
              </a:ext>
            </a:extLst>
          </p:cNvPr>
          <p:cNvSpPr/>
          <p:nvPr/>
        </p:nvSpPr>
        <p:spPr>
          <a:xfrm flipV="1">
            <a:off x="1327366" y="1733878"/>
            <a:ext cx="204244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764205" y="1624771"/>
            <a:ext cx="1214834" cy="21881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NEWHIRE Event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37EBF97D-BCD4-CE5D-C897-65371450A0D0}"/>
              </a:ext>
            </a:extLst>
          </p:cNvPr>
          <p:cNvSpPr txBox="1">
            <a:spLocks/>
          </p:cNvSpPr>
          <p:nvPr/>
        </p:nvSpPr>
        <p:spPr>
          <a:xfrm>
            <a:off x="504001" y="503999"/>
            <a:ext cx="11691174" cy="646331"/>
          </a:xfrm>
          <a:prstGeom prst="rect">
            <a:avLst/>
          </a:prstGeom>
        </p:spPr>
        <p:txBody>
          <a:bodyPr/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defTabSz="1088231">
              <a:defRPr/>
            </a:pPr>
            <a:r>
              <a:rPr lang="en-IN" b="1" dirty="0"/>
              <a:t>Model context protocol (MCP) unlocked: Enable governed access to AI agents</a:t>
            </a:r>
            <a:br>
              <a:rPr lang="en-US" dirty="0"/>
            </a:br>
            <a:r>
              <a:rPr lang="en-IN" sz="1800" dirty="0">
                <a:solidFill>
                  <a:srgbClr val="056FF4"/>
                </a:solidFill>
              </a:rPr>
              <a:t>Scenario Overview</a:t>
            </a:r>
            <a:endParaRPr lang="en-GB" sz="1800" dirty="0">
              <a:solidFill>
                <a:srgbClr val="056FF4"/>
              </a:solidFill>
            </a:endParaRPr>
          </a:p>
        </p:txBody>
      </p:sp>
      <p:sp>
        <p:nvSpPr>
          <p:cNvPr id="85" name="Shape 19">
            <a:extLst>
              <a:ext uri="{FF2B5EF4-FFF2-40B4-BE49-F238E27FC236}">
                <a16:creationId xmlns:a16="http://schemas.microsoft.com/office/drawing/2014/main" id="{7E0D8D28-3DCB-F2AF-CB34-238428A336EC}"/>
              </a:ext>
            </a:extLst>
          </p:cNvPr>
          <p:cNvSpPr/>
          <p:nvPr/>
        </p:nvSpPr>
        <p:spPr>
          <a:xfrm flipH="1" flipV="1">
            <a:off x="11327218" y="2649542"/>
            <a:ext cx="1" cy="8118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12DB9B1-46E8-B4E5-9F7C-4D70BEE839CA}"/>
              </a:ext>
            </a:extLst>
          </p:cNvPr>
          <p:cNvSpPr txBox="1"/>
          <p:nvPr/>
        </p:nvSpPr>
        <p:spPr>
          <a:xfrm>
            <a:off x="10590902" y="2256995"/>
            <a:ext cx="1516756" cy="40011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000" b="1" dirty="0">
                <a:latin typeface="+mn-lt"/>
              </a:rPr>
              <a:t>SAP AI Launchpad</a:t>
            </a:r>
          </a:p>
          <a:p>
            <a:pPr algn="ctr"/>
            <a:r>
              <a:rPr lang="en-IN" sz="1000" b="1" dirty="0">
                <a:latin typeface="+mn-lt"/>
              </a:rPr>
              <a:t>Document Grounding</a:t>
            </a:r>
            <a:endParaRPr lang="en-US" sz="1000" b="1" dirty="0">
              <a:latin typeface="+mn-lt"/>
            </a:endParaRP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E6FB2884-BCB1-2D00-488D-520AFEBF8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60398" y="1811969"/>
            <a:ext cx="502500" cy="447995"/>
          </a:xfrm>
          <a:prstGeom prst="rect">
            <a:avLst/>
          </a:prstGeom>
        </p:spPr>
      </p:pic>
      <p:sp>
        <p:nvSpPr>
          <p:cNvPr id="89" name="Shape 19">
            <a:extLst>
              <a:ext uri="{FF2B5EF4-FFF2-40B4-BE49-F238E27FC236}">
                <a16:creationId xmlns:a16="http://schemas.microsoft.com/office/drawing/2014/main" id="{545C8651-9A23-D9BD-99EF-BC4BA8FEEE13}"/>
              </a:ext>
            </a:extLst>
          </p:cNvPr>
          <p:cNvSpPr/>
          <p:nvPr/>
        </p:nvSpPr>
        <p:spPr>
          <a:xfrm flipH="1" flipV="1">
            <a:off x="1088178" y="2406991"/>
            <a:ext cx="1" cy="8118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CAA78415-7A1E-EB23-D582-A39FE481233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817" y="5473020"/>
            <a:ext cx="406799" cy="40679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3D83C0ED-0B01-F8DA-0991-8BF4DA9D4CDC}"/>
              </a:ext>
            </a:extLst>
          </p:cNvPr>
          <p:cNvSpPr txBox="1"/>
          <p:nvPr/>
        </p:nvSpPr>
        <p:spPr>
          <a:xfrm>
            <a:off x="10893225" y="2967003"/>
            <a:ext cx="1016304" cy="15388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000" b="1" kern="0" dirty="0">
                <a:solidFill>
                  <a:srgbClr val="470CED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Integration Flow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57D72C4-1DE3-F759-EA4B-64249A79DA1A}"/>
              </a:ext>
            </a:extLst>
          </p:cNvPr>
          <p:cNvSpPr txBox="1"/>
          <p:nvPr/>
        </p:nvSpPr>
        <p:spPr>
          <a:xfrm>
            <a:off x="1876883" y="5635197"/>
            <a:ext cx="1134842" cy="15388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000" b="1" kern="0" dirty="0">
                <a:solidFill>
                  <a:srgbClr val="470CED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Integration Flow</a:t>
            </a:r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B0B21489-DD48-FA28-710B-E3D4F87E13FA}"/>
              </a:ext>
            </a:extLst>
          </p:cNvPr>
          <p:cNvSpPr/>
          <p:nvPr/>
        </p:nvSpPr>
        <p:spPr>
          <a:xfrm>
            <a:off x="7846027" y="2117963"/>
            <a:ext cx="1516757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Product and AI Agent Subscription</a:t>
            </a:r>
            <a:endParaRPr lang="en-US" sz="1000" dirty="0"/>
          </a:p>
        </p:txBody>
      </p:sp>
      <p:pic>
        <p:nvPicPr>
          <p:cNvPr id="101" name="Graphic 100" descr="MCP: Your AI talking to 136+ tools | Pluga">
            <a:extLst>
              <a:ext uri="{FF2B5EF4-FFF2-40B4-BE49-F238E27FC236}">
                <a16:creationId xmlns:a16="http://schemas.microsoft.com/office/drawing/2014/main" id="{77F50EAA-BFCB-0F16-A3C6-5ED8A7A76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68550" y="3813023"/>
            <a:ext cx="396000" cy="353048"/>
          </a:xfrm>
          <a:prstGeom prst="rect">
            <a:avLst/>
          </a:prstGeom>
        </p:spPr>
      </p:pic>
      <p:sp>
        <p:nvSpPr>
          <p:cNvPr id="102" name="Text 51">
            <a:extLst>
              <a:ext uri="{FF2B5EF4-FFF2-40B4-BE49-F238E27FC236}">
                <a16:creationId xmlns:a16="http://schemas.microsoft.com/office/drawing/2014/main" id="{05918B7E-3AA6-F52E-36A4-4D78E8E372A1}"/>
              </a:ext>
            </a:extLst>
          </p:cNvPr>
          <p:cNvSpPr/>
          <p:nvPr/>
        </p:nvSpPr>
        <p:spPr>
          <a:xfrm>
            <a:off x="2695694" y="4109315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Claude Sonnet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60E5F52C-C1C6-F707-FED4-D37B74990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04428" y="3554940"/>
            <a:ext cx="502500" cy="447995"/>
          </a:xfrm>
          <a:prstGeom prst="rect">
            <a:avLst/>
          </a:prstGeom>
        </p:spPr>
      </p:pic>
      <p:sp>
        <p:nvSpPr>
          <p:cNvPr id="105" name="Shape 7">
            <a:extLst>
              <a:ext uri="{FF2B5EF4-FFF2-40B4-BE49-F238E27FC236}">
                <a16:creationId xmlns:a16="http://schemas.microsoft.com/office/drawing/2014/main" id="{4A10CDA6-478D-7B3C-950A-27945DC25025}"/>
              </a:ext>
            </a:extLst>
          </p:cNvPr>
          <p:cNvSpPr/>
          <p:nvPr/>
        </p:nvSpPr>
        <p:spPr>
          <a:xfrm>
            <a:off x="3911634" y="3814001"/>
            <a:ext cx="9267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DD65EF30-3865-90D6-785F-731831E2E255}"/>
              </a:ext>
            </a:extLst>
          </p:cNvPr>
          <p:cNvSpPr/>
          <p:nvPr/>
        </p:nvSpPr>
        <p:spPr>
          <a:xfrm>
            <a:off x="6089487" y="2508110"/>
            <a:ext cx="0" cy="432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F92A42F8-9AE3-F2EE-B3A1-F59AC8896F39}"/>
              </a:ext>
            </a:extLst>
          </p:cNvPr>
          <p:cNvSpPr/>
          <p:nvPr/>
        </p:nvSpPr>
        <p:spPr>
          <a:xfrm flipH="1" flipV="1">
            <a:off x="11327196" y="4296601"/>
            <a:ext cx="21" cy="573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4">
            <a:extLst>
              <a:ext uri="{FF2B5EF4-FFF2-40B4-BE49-F238E27FC236}">
                <a16:creationId xmlns:a16="http://schemas.microsoft.com/office/drawing/2014/main" id="{47F929C8-60D3-0504-2DFD-8FC2FD6246B4}"/>
              </a:ext>
            </a:extLst>
          </p:cNvPr>
          <p:cNvSpPr/>
          <p:nvPr/>
        </p:nvSpPr>
        <p:spPr>
          <a:xfrm>
            <a:off x="6080561" y="4560945"/>
            <a:ext cx="0" cy="30715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0">
            <a:extLst>
              <a:ext uri="{FF2B5EF4-FFF2-40B4-BE49-F238E27FC236}">
                <a16:creationId xmlns:a16="http://schemas.microsoft.com/office/drawing/2014/main" id="{CCCB1070-BA6D-5CD3-54B4-35797F90D801}"/>
              </a:ext>
            </a:extLst>
          </p:cNvPr>
          <p:cNvSpPr/>
          <p:nvPr/>
        </p:nvSpPr>
        <p:spPr>
          <a:xfrm>
            <a:off x="6066550" y="4874057"/>
            <a:ext cx="5260646" cy="107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018156" y="4699816"/>
            <a:ext cx="2173780" cy="323082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HR Policy for Equipment's, System </a:t>
            </a:r>
          </a:p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Access and Training Enrollment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81" name="Text 51">
            <a:extLst>
              <a:ext uri="{FF2B5EF4-FFF2-40B4-BE49-F238E27FC236}">
                <a16:creationId xmlns:a16="http://schemas.microsoft.com/office/drawing/2014/main" id="{49B6E74B-5C12-A234-9A4F-3DB9437BD047}"/>
              </a:ext>
            </a:extLst>
          </p:cNvPr>
          <p:cNvSpPr/>
          <p:nvPr/>
        </p:nvSpPr>
        <p:spPr>
          <a:xfrm>
            <a:off x="235182" y="2540993"/>
            <a:ext cx="1745253" cy="18695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Add New Employee</a:t>
            </a:r>
            <a:endParaRPr lang="en-US" sz="1000" b="1" dirty="0">
              <a:solidFill>
                <a:srgbClr val="470CED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11" grpId="0" animBg="1"/>
      <p:bldP spid="12" grpId="0" animBg="1"/>
      <p:bldP spid="13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32" grpId="0" animBg="1"/>
      <p:bldP spid="36" grpId="0" animBg="1"/>
      <p:bldP spid="44" grpId="0" animBg="1"/>
      <p:bldP spid="46" grpId="0" animBg="1"/>
      <p:bldP spid="48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77" grpId="0" animBg="1"/>
      <p:bldP spid="78" grpId="0" animBg="1"/>
      <p:bldP spid="30" grpId="0" animBg="1"/>
      <p:bldP spid="85" grpId="0" animBg="1"/>
      <p:bldP spid="87" grpId="0"/>
      <p:bldP spid="89" grpId="0" animBg="1"/>
      <p:bldP spid="95" grpId="0" animBg="1"/>
      <p:bldP spid="96" grpId="0" animBg="1"/>
      <p:bldP spid="98" grpId="0" animBg="1"/>
      <p:bldP spid="102" grpId="0" animBg="1"/>
      <p:bldP spid="105" grpId="0" animBg="1"/>
      <p:bldP spid="106" grpId="0" animBg="1"/>
      <p:bldP spid="106" grpId="1" animBg="1"/>
      <p:bldP spid="107" grpId="0" animBg="1"/>
      <p:bldP spid="115" grpId="0" animBg="1"/>
      <p:bldP spid="115" grpId="1" animBg="1"/>
      <p:bldP spid="117" grpId="0" animBg="1"/>
      <p:bldP spid="38" grpId="0" animBg="1"/>
      <p:bldP spid="81" grpId="0" animBg="1"/>
    </p:bldLst>
  </p:timing>
  <p:extLst mod="1">
    <p:ext uri="{6EAA1A4A-EKX0-4B2E-9C0D-EKX000000001}">
      <ekx:slideId xmlns:ekx="https://ekx.app/schemas/deck/1.0" xmlns="" val="f00a4ceab55138e9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19B3-1922-545C-8097-7AC9C49A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47A9657-EDEF-E23F-1C99-3098ED5B394C}"/>
              </a:ext>
            </a:extLst>
          </p:cNvPr>
          <p:cNvCxnSpPr>
            <a:cxnSpLocks/>
            <a:endCxn id="106" idx="1"/>
          </p:cNvCxnSpPr>
          <p:nvPr/>
        </p:nvCxnSpPr>
        <p:spPr>
          <a:xfrm flipV="1">
            <a:off x="6083071" y="2940110"/>
            <a:ext cx="6417" cy="833358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</p:cxnSp>
      <p:sp>
        <p:nvSpPr>
          <p:cNvPr id="3" name="Shape 1">
            <a:extLst>
              <a:ext uri="{FF2B5EF4-FFF2-40B4-BE49-F238E27FC236}">
                <a16:creationId xmlns:a16="http://schemas.microsoft.com/office/drawing/2014/main" id="{B82081EA-A38E-646D-EC09-50122FC1F560}"/>
              </a:ext>
            </a:extLst>
          </p:cNvPr>
          <p:cNvSpPr/>
          <p:nvPr/>
        </p:nvSpPr>
        <p:spPr>
          <a:xfrm>
            <a:off x="3996941" y="1733879"/>
            <a:ext cx="1723461" cy="4519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CBF3C9-6001-91A9-EB6C-AE450FB23C69}"/>
              </a:ext>
            </a:extLst>
          </p:cNvPr>
          <p:cNvSpPr/>
          <p:nvPr/>
        </p:nvSpPr>
        <p:spPr>
          <a:xfrm>
            <a:off x="6434023" y="1737632"/>
            <a:ext cx="182521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096B5E-37D0-1FD1-8F20-233BD475AE74}"/>
              </a:ext>
            </a:extLst>
          </p:cNvPr>
          <p:cNvSpPr/>
          <p:nvPr/>
        </p:nvSpPr>
        <p:spPr>
          <a:xfrm>
            <a:off x="6085600" y="4868101"/>
            <a:ext cx="0" cy="444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9C025F3-A00C-5DED-D960-F4F78D7C6FE1}"/>
              </a:ext>
            </a:extLst>
          </p:cNvPr>
          <p:cNvSpPr/>
          <p:nvPr/>
        </p:nvSpPr>
        <p:spPr>
          <a:xfrm>
            <a:off x="1795135" y="3877501"/>
            <a:ext cx="56936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FE5AE90-C97D-4633-F0CF-414FA8C55AF6}"/>
              </a:ext>
            </a:extLst>
          </p:cNvPr>
          <p:cNvSpPr/>
          <p:nvPr/>
        </p:nvSpPr>
        <p:spPr>
          <a:xfrm>
            <a:off x="4832006" y="2939910"/>
            <a:ext cx="0" cy="8731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A190C8-3124-016A-31F3-2EBBFDA41E76}"/>
              </a:ext>
            </a:extLst>
          </p:cNvPr>
          <p:cNvSpPr/>
          <p:nvPr/>
        </p:nvSpPr>
        <p:spPr>
          <a:xfrm flipV="1">
            <a:off x="2364502" y="4867314"/>
            <a:ext cx="3711022" cy="78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E8DBF22-3849-E1D5-6FEA-06793B577057}"/>
              </a:ext>
            </a:extLst>
          </p:cNvPr>
          <p:cNvSpPr/>
          <p:nvPr/>
        </p:nvSpPr>
        <p:spPr>
          <a:xfrm>
            <a:off x="2364501" y="3877501"/>
            <a:ext cx="0" cy="990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C474727-5E35-290A-42BD-6A7574ABB141}"/>
              </a:ext>
            </a:extLst>
          </p:cNvPr>
          <p:cNvSpPr/>
          <p:nvPr/>
        </p:nvSpPr>
        <p:spPr>
          <a:xfrm>
            <a:off x="4832006" y="2939909"/>
            <a:ext cx="125359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3BF9173-DEF0-6B80-9153-A7C5409AA9C6}"/>
              </a:ext>
            </a:extLst>
          </p:cNvPr>
          <p:cNvSpPr/>
          <p:nvPr/>
        </p:nvSpPr>
        <p:spPr>
          <a:xfrm>
            <a:off x="1418264" y="5723917"/>
            <a:ext cx="188616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998B67F-0441-E370-E248-85922E0907F9}"/>
              </a:ext>
            </a:extLst>
          </p:cNvPr>
          <p:cNvSpPr/>
          <p:nvPr/>
        </p:nvSpPr>
        <p:spPr>
          <a:xfrm flipV="1">
            <a:off x="4092132" y="5723464"/>
            <a:ext cx="1577637" cy="169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6A55F01-9042-ABBA-7D43-7AE30F0B0229}"/>
              </a:ext>
            </a:extLst>
          </p:cNvPr>
          <p:cNvSpPr/>
          <p:nvPr/>
        </p:nvSpPr>
        <p:spPr>
          <a:xfrm>
            <a:off x="6455222" y="5723464"/>
            <a:ext cx="18040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11463CC-D02E-EE5E-65BD-3FE7CC5D8E36}"/>
              </a:ext>
            </a:extLst>
          </p:cNvPr>
          <p:cNvSpPr/>
          <p:nvPr/>
        </p:nvSpPr>
        <p:spPr>
          <a:xfrm>
            <a:off x="8976247" y="5723917"/>
            <a:ext cx="156097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4B83ACC-724D-D152-C5E9-1B26EB68EF55}"/>
              </a:ext>
            </a:extLst>
          </p:cNvPr>
          <p:cNvSpPr/>
          <p:nvPr/>
        </p:nvSpPr>
        <p:spPr>
          <a:xfrm>
            <a:off x="7008496" y="1613605"/>
            <a:ext cx="516731" cy="25553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API key</a:t>
            </a:r>
            <a:endParaRPr lang="en-US" sz="1000" b="1" dirty="0">
              <a:solidFill>
                <a:srgbClr val="470CED"/>
              </a:solidFill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9F87EF7-3598-CC8D-7B31-4D86664EA231}"/>
              </a:ext>
            </a:extLst>
          </p:cNvPr>
          <p:cNvGrpSpPr/>
          <p:nvPr/>
        </p:nvGrpSpPr>
        <p:grpSpPr>
          <a:xfrm>
            <a:off x="5645721" y="3218336"/>
            <a:ext cx="932766" cy="355600"/>
            <a:chOff x="6458665" y="2855745"/>
            <a:chExt cx="932766" cy="355600"/>
          </a:xfrm>
        </p:grpSpPr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69AE1BAB-5D81-1664-6967-29A311DC45B7}"/>
                </a:ext>
              </a:extLst>
            </p:cNvPr>
            <p:cNvSpPr/>
            <p:nvPr/>
          </p:nvSpPr>
          <p:spPr>
            <a:xfrm>
              <a:off x="6458665" y="2855745"/>
              <a:ext cx="932766" cy="355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D871A9E8-87FA-C1D7-DD55-6A5B9DBB04E2}"/>
                </a:ext>
              </a:extLst>
            </p:cNvPr>
            <p:cNvSpPr/>
            <p:nvPr/>
          </p:nvSpPr>
          <p:spPr>
            <a:xfrm>
              <a:off x="6480663" y="2913053"/>
              <a:ext cx="895325" cy="254095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none" lIns="19050" tIns="19050" rIns="19050" bIns="19050" rtlCol="0" anchor="ctr"/>
            <a:lstStyle/>
            <a:p>
              <a:pPr algn="ctr">
                <a:lnSpc>
                  <a:spcPts val="1000"/>
                </a:lnSpc>
              </a:pPr>
              <a:r>
                <a:rPr lang="en-US" sz="1000" b="1" dirty="0">
                  <a:solidFill>
                    <a:srgbClr val="470CED"/>
                  </a:solidFill>
                  <a:latin typeface="72" pitchFamily="34" charset="0"/>
                  <a:ea typeface="72" pitchFamily="34" charset="-122"/>
                  <a:cs typeface="72" pitchFamily="34" charset="-120"/>
                </a:rPr>
                <a:t>MCP tool calls</a:t>
              </a:r>
              <a:endParaRPr lang="en-US" sz="1000" b="1" dirty="0">
                <a:solidFill>
                  <a:srgbClr val="470CED"/>
                </a:solidFill>
              </a:endParaRPr>
            </a:p>
          </p:txBody>
        </p:sp>
      </p:grpSp>
      <p:sp>
        <p:nvSpPr>
          <p:cNvPr id="36" name="Text 34">
            <a:extLst>
              <a:ext uri="{FF2B5EF4-FFF2-40B4-BE49-F238E27FC236}">
                <a16:creationId xmlns:a16="http://schemas.microsoft.com/office/drawing/2014/main" id="{93DB2C28-41A8-C886-136E-9D7B5468C3D9}"/>
              </a:ext>
            </a:extLst>
          </p:cNvPr>
          <p:cNvSpPr/>
          <p:nvPr/>
        </p:nvSpPr>
        <p:spPr>
          <a:xfrm>
            <a:off x="3302293" y="4760005"/>
            <a:ext cx="1175190" cy="215034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Get Employee and </a:t>
            </a:r>
          </a:p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Job Information</a:t>
            </a:r>
            <a:endParaRPr lang="en-US" sz="1000" b="1" dirty="0">
              <a:solidFill>
                <a:srgbClr val="470CED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99E3AD8-2738-9DFE-85FC-9BCED4794B9D}"/>
              </a:ext>
            </a:extLst>
          </p:cNvPr>
          <p:cNvGrpSpPr/>
          <p:nvPr/>
        </p:nvGrpSpPr>
        <p:grpSpPr>
          <a:xfrm>
            <a:off x="5025507" y="2751716"/>
            <a:ext cx="907405" cy="355600"/>
            <a:chOff x="3674837" y="2934599"/>
            <a:chExt cx="907405" cy="355600"/>
          </a:xfrm>
        </p:grpSpPr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F1DC54B4-D181-D621-860A-0E0614E9AB39}"/>
                </a:ext>
              </a:extLst>
            </p:cNvPr>
            <p:cNvSpPr/>
            <p:nvPr/>
          </p:nvSpPr>
          <p:spPr>
            <a:xfrm>
              <a:off x="3674837" y="2934599"/>
              <a:ext cx="907405" cy="355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DEF3E4CE-B3C2-9EE5-B785-07FAF1330E35}"/>
                </a:ext>
              </a:extLst>
            </p:cNvPr>
            <p:cNvSpPr/>
            <p:nvPr/>
          </p:nvSpPr>
          <p:spPr>
            <a:xfrm>
              <a:off x="3890737" y="3048899"/>
              <a:ext cx="475605" cy="127000"/>
            </a:xfrm>
            <a:prstGeom prst="rect">
              <a:avLst/>
            </a:prstGeom>
            <a:noFill/>
            <a:ln/>
          </p:spPr>
          <p:txBody>
            <a:bodyPr wrap="none" lIns="19050" tIns="19050" rIns="19050" bIns="19050" rtlCol="0" anchor="ctr"/>
            <a:lstStyle/>
            <a:p>
              <a:pPr algn="ctr">
                <a:lnSpc>
                  <a:spcPts val="1000"/>
                </a:lnSpc>
              </a:pPr>
              <a:r>
                <a:rPr lang="en-US" sz="1000" b="1" dirty="0">
                  <a:solidFill>
                    <a:srgbClr val="470CED"/>
                  </a:solidFill>
                  <a:latin typeface="72" pitchFamily="34" charset="0"/>
                  <a:ea typeface="72" pitchFamily="34" charset="-122"/>
                  <a:cs typeface="72" pitchFamily="34" charset="-120"/>
                </a:rPr>
                <a:t>LLM calls</a:t>
              </a:r>
              <a:endParaRPr lang="en-US" sz="1000" b="1" dirty="0">
                <a:solidFill>
                  <a:srgbClr val="470CED"/>
                </a:solidFill>
              </a:endParaRPr>
            </a:p>
          </p:txBody>
        </p:sp>
      </p:grpSp>
      <p:sp>
        <p:nvSpPr>
          <p:cNvPr id="44" name="Text 42">
            <a:extLst>
              <a:ext uri="{FF2B5EF4-FFF2-40B4-BE49-F238E27FC236}">
                <a16:creationId xmlns:a16="http://schemas.microsoft.com/office/drawing/2014/main" id="{388B638B-E8DF-486E-174A-1A4B445B549A}"/>
              </a:ext>
            </a:extLst>
          </p:cNvPr>
          <p:cNvSpPr/>
          <p:nvPr/>
        </p:nvSpPr>
        <p:spPr>
          <a:xfrm>
            <a:off x="6708699" y="5569658"/>
            <a:ext cx="1356939" cy="25689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Create Support Case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C508A37-C749-30BE-E7E6-43BDC63685C5}"/>
              </a:ext>
            </a:extLst>
          </p:cNvPr>
          <p:cNvSpPr/>
          <p:nvPr/>
        </p:nvSpPr>
        <p:spPr>
          <a:xfrm>
            <a:off x="4558459" y="5571987"/>
            <a:ext cx="784466" cy="25118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Create PR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1CE15D49-CBCC-9588-00AA-8190B037B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66" y="1468123"/>
            <a:ext cx="406400" cy="406400"/>
          </a:xfrm>
          <a:prstGeom prst="rect">
            <a:avLst/>
          </a:prstGeom>
        </p:spPr>
      </p:pic>
      <p:sp>
        <p:nvSpPr>
          <p:cNvPr id="48" name="Text 45">
            <a:extLst>
              <a:ext uri="{FF2B5EF4-FFF2-40B4-BE49-F238E27FC236}">
                <a16:creationId xmlns:a16="http://schemas.microsoft.com/office/drawing/2014/main" id="{0678C283-34AD-E7CC-7ECF-C346E714CEB9}"/>
              </a:ext>
            </a:extLst>
          </p:cNvPr>
          <p:cNvSpPr/>
          <p:nvPr/>
        </p:nvSpPr>
        <p:spPr>
          <a:xfrm>
            <a:off x="504001" y="1909001"/>
            <a:ext cx="1240333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371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SuccessFactors</a:t>
            </a:r>
            <a:endParaRPr lang="en-US" sz="1000" b="1" dirty="0"/>
          </a:p>
        </p:txBody>
      </p:sp>
      <p:pic>
        <p:nvPicPr>
          <p:cNvPr id="51" name="Image 2" descr="preencoded.png">
            <a:extLst>
              <a:ext uri="{FF2B5EF4-FFF2-40B4-BE49-F238E27FC236}">
                <a16:creationId xmlns:a16="http://schemas.microsoft.com/office/drawing/2014/main" id="{65256BDB-D9BA-4C3D-A1B1-6277D30C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400" y="1439101"/>
            <a:ext cx="406400" cy="406400"/>
          </a:xfrm>
          <a:prstGeom prst="rect">
            <a:avLst/>
          </a:prstGeom>
        </p:spPr>
      </p:pic>
      <p:sp>
        <p:nvSpPr>
          <p:cNvPr id="52" name="Text 47">
            <a:extLst>
              <a:ext uri="{FF2B5EF4-FFF2-40B4-BE49-F238E27FC236}">
                <a16:creationId xmlns:a16="http://schemas.microsoft.com/office/drawing/2014/main" id="{4D20DDFE-F543-C32F-EEBF-CCD117532ACA}"/>
              </a:ext>
            </a:extLst>
          </p:cNvPr>
          <p:cNvSpPr/>
          <p:nvPr/>
        </p:nvSpPr>
        <p:spPr>
          <a:xfrm>
            <a:off x="4951958" y="1817561"/>
            <a:ext cx="2018090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Employee Onboarding 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AI Agent – SAP AI Core</a:t>
            </a:r>
            <a:endParaRPr lang="en-US" sz="1000" b="1" dirty="0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6A15100D-C947-5B9A-509F-48E14CDC1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117" y="1531865"/>
            <a:ext cx="406400" cy="406400"/>
          </a:xfrm>
          <a:prstGeom prst="rect">
            <a:avLst/>
          </a:prstGeom>
        </p:spPr>
      </p:pic>
      <p:sp>
        <p:nvSpPr>
          <p:cNvPr id="54" name="Text 48">
            <a:extLst>
              <a:ext uri="{FF2B5EF4-FFF2-40B4-BE49-F238E27FC236}">
                <a16:creationId xmlns:a16="http://schemas.microsoft.com/office/drawing/2014/main" id="{AF56191F-5308-AE47-67B2-157967640943}"/>
              </a:ext>
            </a:extLst>
          </p:cNvPr>
          <p:cNvSpPr/>
          <p:nvPr/>
        </p:nvSpPr>
        <p:spPr>
          <a:xfrm>
            <a:off x="7807938" y="1817561"/>
            <a:ext cx="1516757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Developer Hub </a:t>
            </a:r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5307F8FC-DC3D-A103-9CA3-9C9F418C5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64" y="3371619"/>
            <a:ext cx="406400" cy="406400"/>
          </a:xfrm>
          <a:prstGeom prst="rect">
            <a:avLst/>
          </a:prstGeom>
        </p:spPr>
      </p:pic>
      <p:sp>
        <p:nvSpPr>
          <p:cNvPr id="56" name="Text 49">
            <a:extLst>
              <a:ext uri="{FF2B5EF4-FFF2-40B4-BE49-F238E27FC236}">
                <a16:creationId xmlns:a16="http://schemas.microsoft.com/office/drawing/2014/main" id="{91AA5667-BD7B-8636-1930-BDDD2123E202}"/>
              </a:ext>
            </a:extLst>
          </p:cNvPr>
          <p:cNvSpPr/>
          <p:nvPr/>
        </p:nvSpPr>
        <p:spPr>
          <a:xfrm>
            <a:off x="332697" y="3804249"/>
            <a:ext cx="1522511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486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Employee Lookup MCP</a:t>
            </a:r>
          </a:p>
          <a:p>
            <a:pPr algn="ctr">
              <a:lnSpc>
                <a:spcPct val="100000"/>
              </a:lnSpc>
            </a:pPr>
            <a:r>
              <a:rPr lang="en-IN" sz="1000" b="1" dirty="0">
                <a:latin typeface="+mn-lt"/>
              </a:rPr>
              <a:t>SAP API Composition</a:t>
            </a:r>
            <a:r>
              <a:rPr lang="en-US" sz="1000" b="1" dirty="0">
                <a:solidFill>
                  <a:srgbClr val="000000"/>
                </a:solidFill>
                <a:latin typeface="+mn-lt"/>
                <a:ea typeface="72 Brand" pitchFamily="34" charset="-122"/>
                <a:cs typeface="72 Brand" pitchFamily="34" charset="-120"/>
              </a:rPr>
              <a:t> </a:t>
            </a:r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AE79D882-26E8-9F6D-4D1C-0929DBC1FFAB}"/>
              </a:ext>
            </a:extLst>
          </p:cNvPr>
          <p:cNvSpPr/>
          <p:nvPr/>
        </p:nvSpPr>
        <p:spPr>
          <a:xfrm>
            <a:off x="2984718" y="3961321"/>
            <a:ext cx="124033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AI Core</a:t>
            </a:r>
            <a:endParaRPr lang="en-US" sz="1000" b="1" dirty="0"/>
          </a:p>
        </p:txBody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AFF65187-8533-78D5-24DD-6E7FA5B71498}"/>
              </a:ext>
            </a:extLst>
          </p:cNvPr>
          <p:cNvSpPr/>
          <p:nvPr/>
        </p:nvSpPr>
        <p:spPr>
          <a:xfrm>
            <a:off x="5226671" y="4162973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Integration Suite 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MCP Gateway</a:t>
            </a:r>
            <a:endParaRPr lang="en-US" sz="1000" b="1" dirty="0"/>
          </a:p>
        </p:txBody>
      </p:sp>
      <p:pic>
        <p:nvPicPr>
          <p:cNvPr id="63" name="Image 8" descr="preencoded.png">
            <a:extLst>
              <a:ext uri="{FF2B5EF4-FFF2-40B4-BE49-F238E27FC236}">
                <a16:creationId xmlns:a16="http://schemas.microsoft.com/office/drawing/2014/main" id="{6724A01F-DD86-E0B4-0DC1-2D7B232B83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3519" y="3524245"/>
            <a:ext cx="406400" cy="406400"/>
          </a:xfrm>
          <a:prstGeom prst="rect">
            <a:avLst/>
          </a:prstGeom>
        </p:spPr>
      </p:pic>
      <p:sp>
        <p:nvSpPr>
          <p:cNvPr id="64" name="Text 53">
            <a:extLst>
              <a:ext uri="{FF2B5EF4-FFF2-40B4-BE49-F238E27FC236}">
                <a16:creationId xmlns:a16="http://schemas.microsoft.com/office/drawing/2014/main" id="{CC7A5597-594B-1016-6C19-97746C278948}"/>
              </a:ext>
            </a:extLst>
          </p:cNvPr>
          <p:cNvSpPr/>
          <p:nvPr/>
        </p:nvSpPr>
        <p:spPr>
          <a:xfrm>
            <a:off x="10426918" y="3890201"/>
            <a:ext cx="1680739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HR Policy Lookup MCP </a:t>
            </a:r>
          </a:p>
        </p:txBody>
      </p:sp>
      <p:pic>
        <p:nvPicPr>
          <p:cNvPr id="65" name="Image 9" descr="preencoded.png">
            <a:extLst>
              <a:ext uri="{FF2B5EF4-FFF2-40B4-BE49-F238E27FC236}">
                <a16:creationId xmlns:a16="http://schemas.microsoft.com/office/drawing/2014/main" id="{21EAE13A-A05E-03D5-BCEC-3F535C76B0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609" y="5462402"/>
            <a:ext cx="406400" cy="406400"/>
          </a:xfrm>
          <a:prstGeom prst="rect">
            <a:avLst/>
          </a:prstGeom>
        </p:spPr>
      </p:pic>
      <p:sp>
        <p:nvSpPr>
          <p:cNvPr id="66" name="Text 54">
            <a:extLst>
              <a:ext uri="{FF2B5EF4-FFF2-40B4-BE49-F238E27FC236}">
                <a16:creationId xmlns:a16="http://schemas.microsoft.com/office/drawing/2014/main" id="{9A0D12B7-7202-1366-6636-B4ABFD9FD2E9}"/>
              </a:ext>
            </a:extLst>
          </p:cNvPr>
          <p:cNvSpPr/>
          <p:nvPr/>
        </p:nvSpPr>
        <p:spPr>
          <a:xfrm>
            <a:off x="434358" y="5971679"/>
            <a:ext cx="1379612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SAP S/4HANA Equipment Ordering</a:t>
            </a:r>
            <a:endParaRPr lang="en-US" sz="1000" b="1" dirty="0"/>
          </a:p>
        </p:txBody>
      </p:sp>
      <p:pic>
        <p:nvPicPr>
          <p:cNvPr id="67" name="Image 10" descr="preencoded.png">
            <a:extLst>
              <a:ext uri="{FF2B5EF4-FFF2-40B4-BE49-F238E27FC236}">
                <a16:creationId xmlns:a16="http://schemas.microsoft.com/office/drawing/2014/main" id="{0CDE5AE4-89ED-C4E8-2F8B-65BF4A9E05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683" y="5478389"/>
            <a:ext cx="406400" cy="406400"/>
          </a:xfrm>
          <a:prstGeom prst="rect">
            <a:avLst/>
          </a:prstGeom>
        </p:spPr>
      </p:pic>
      <p:sp>
        <p:nvSpPr>
          <p:cNvPr id="68" name="Text 55">
            <a:extLst>
              <a:ext uri="{FF2B5EF4-FFF2-40B4-BE49-F238E27FC236}">
                <a16:creationId xmlns:a16="http://schemas.microsoft.com/office/drawing/2014/main" id="{1C4AA688-31E0-79A3-AE6C-A6B3C653B4E2}"/>
              </a:ext>
            </a:extLst>
          </p:cNvPr>
          <p:cNvSpPr/>
          <p:nvPr/>
        </p:nvSpPr>
        <p:spPr>
          <a:xfrm>
            <a:off x="2984666" y="5871401"/>
            <a:ext cx="1240385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Create S/4 Hana PR MCP</a:t>
            </a:r>
            <a:endParaRPr lang="en-US" sz="1000" b="1" dirty="0"/>
          </a:p>
        </p:txBody>
      </p:sp>
      <p:pic>
        <p:nvPicPr>
          <p:cNvPr id="69" name="Image 11" descr="preencoded.png">
            <a:extLst>
              <a:ext uri="{FF2B5EF4-FFF2-40B4-BE49-F238E27FC236}">
                <a16:creationId xmlns:a16="http://schemas.microsoft.com/office/drawing/2014/main" id="{6F66FF39-D0BF-3A4A-B1BD-FE89514272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2400" y="5401501"/>
            <a:ext cx="406400" cy="406400"/>
          </a:xfrm>
          <a:prstGeom prst="rect">
            <a:avLst/>
          </a:prstGeom>
        </p:spPr>
      </p:pic>
      <p:sp>
        <p:nvSpPr>
          <p:cNvPr id="70" name="Text 56">
            <a:extLst>
              <a:ext uri="{FF2B5EF4-FFF2-40B4-BE49-F238E27FC236}">
                <a16:creationId xmlns:a16="http://schemas.microsoft.com/office/drawing/2014/main" id="{3E4849AA-6121-7A58-8601-865EF7186569}"/>
              </a:ext>
            </a:extLst>
          </p:cNvPr>
          <p:cNvSpPr/>
          <p:nvPr/>
        </p:nvSpPr>
        <p:spPr>
          <a:xfrm>
            <a:off x="5255883" y="5857913"/>
            <a:ext cx="1543062" cy="4064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Manager Approval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Ex 9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72" name="Text 57">
            <a:extLst>
              <a:ext uri="{FF2B5EF4-FFF2-40B4-BE49-F238E27FC236}">
                <a16:creationId xmlns:a16="http://schemas.microsoft.com/office/drawing/2014/main" id="{AF55A8BB-104A-06CD-C319-B68BF6111335}"/>
              </a:ext>
            </a:extLst>
          </p:cNvPr>
          <p:cNvSpPr/>
          <p:nvPr/>
        </p:nvSpPr>
        <p:spPr>
          <a:xfrm>
            <a:off x="7946151" y="5871401"/>
            <a:ext cx="1356940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000000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Create Support Case MCP</a:t>
            </a:r>
            <a:endParaRPr lang="en-US" sz="1000" b="1" dirty="0"/>
          </a:p>
        </p:txBody>
      </p:sp>
      <p:pic>
        <p:nvPicPr>
          <p:cNvPr id="73" name="Image 13" descr="preencoded.png">
            <a:extLst>
              <a:ext uri="{FF2B5EF4-FFF2-40B4-BE49-F238E27FC236}">
                <a16:creationId xmlns:a16="http://schemas.microsoft.com/office/drawing/2014/main" id="{77AFE2F9-91DA-2D81-61B5-4190197159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0634" y="5491225"/>
            <a:ext cx="406400" cy="406400"/>
          </a:xfrm>
          <a:prstGeom prst="rect">
            <a:avLst/>
          </a:prstGeom>
        </p:spPr>
      </p:pic>
      <p:sp>
        <p:nvSpPr>
          <p:cNvPr id="74" name="Text 58">
            <a:extLst>
              <a:ext uri="{FF2B5EF4-FFF2-40B4-BE49-F238E27FC236}">
                <a16:creationId xmlns:a16="http://schemas.microsoft.com/office/drawing/2014/main" id="{57788616-7695-F65F-A922-7D61935BD0FD}"/>
              </a:ext>
            </a:extLst>
          </p:cNvPr>
          <p:cNvSpPr/>
          <p:nvPr/>
        </p:nvSpPr>
        <p:spPr>
          <a:xfrm>
            <a:off x="10105686" y="5973590"/>
            <a:ext cx="1376224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Service Cloud V2</a:t>
            </a:r>
          </a:p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System Access and Training Enrollment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77B52F84-2E8D-61D6-735E-116954BE2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2468" y="1535621"/>
            <a:ext cx="417491" cy="417491"/>
          </a:xfrm>
          <a:prstGeom prst="rect">
            <a:avLst/>
          </a:prstGeom>
        </p:spPr>
      </p:pic>
      <p:sp>
        <p:nvSpPr>
          <p:cNvPr id="77" name="Text 26">
            <a:extLst>
              <a:ext uri="{FF2B5EF4-FFF2-40B4-BE49-F238E27FC236}">
                <a16:creationId xmlns:a16="http://schemas.microsoft.com/office/drawing/2014/main" id="{5F10F89A-3689-6E51-DE0A-7095B303A0D7}"/>
              </a:ext>
            </a:extLst>
          </p:cNvPr>
          <p:cNvSpPr/>
          <p:nvPr/>
        </p:nvSpPr>
        <p:spPr>
          <a:xfrm>
            <a:off x="3085794" y="1982819"/>
            <a:ext cx="1097552" cy="37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1D2D3E"/>
                </a:solidFill>
                <a:latin typeface="+mn-lt"/>
                <a:ea typeface="72 Bold" pitchFamily="34" charset="-122"/>
                <a:cs typeface="72 Bold" pitchFamily="34" charset="-120"/>
              </a:rPr>
              <a:t>SAP Integration Suite, advanced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1D2D3E"/>
                </a:solidFill>
                <a:latin typeface="+mn-lt"/>
                <a:ea typeface="72 Bold" pitchFamily="34" charset="-122"/>
                <a:cs typeface="72 Bold" pitchFamily="34" charset="-120"/>
              </a:rPr>
              <a:t>event mesh</a:t>
            </a:r>
            <a:endParaRPr lang="en-US" sz="1000" b="1" dirty="0">
              <a:solidFill>
                <a:srgbClr val="1D2D3E"/>
              </a:solidFill>
              <a:latin typeface="+mn-lt"/>
            </a:endParaRPr>
          </a:p>
        </p:txBody>
      </p:sp>
      <p:sp>
        <p:nvSpPr>
          <p:cNvPr id="78" name="Shape 1">
            <a:extLst>
              <a:ext uri="{FF2B5EF4-FFF2-40B4-BE49-F238E27FC236}">
                <a16:creationId xmlns:a16="http://schemas.microsoft.com/office/drawing/2014/main" id="{814BEA93-1CF5-0389-CAD4-D9AD6953B94D}"/>
              </a:ext>
            </a:extLst>
          </p:cNvPr>
          <p:cNvSpPr/>
          <p:nvPr/>
        </p:nvSpPr>
        <p:spPr>
          <a:xfrm flipV="1">
            <a:off x="1327366" y="1733878"/>
            <a:ext cx="204244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7787DCB-9E2F-E7EB-33F2-B61B6008AD64}"/>
              </a:ext>
            </a:extLst>
          </p:cNvPr>
          <p:cNvSpPr/>
          <p:nvPr/>
        </p:nvSpPr>
        <p:spPr>
          <a:xfrm>
            <a:off x="1691635" y="1624771"/>
            <a:ext cx="1214834" cy="21881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NEWHIRE Event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79" name="Text 51">
            <a:extLst>
              <a:ext uri="{FF2B5EF4-FFF2-40B4-BE49-F238E27FC236}">
                <a16:creationId xmlns:a16="http://schemas.microsoft.com/office/drawing/2014/main" id="{B59C273E-8CE1-973B-95AF-7D2DE7DFF928}"/>
              </a:ext>
            </a:extLst>
          </p:cNvPr>
          <p:cNvSpPr/>
          <p:nvPr/>
        </p:nvSpPr>
        <p:spPr>
          <a:xfrm>
            <a:off x="2732256" y="2431653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Ex 1 – Create Queue and Topic Subscription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5792BA9C-A7D6-BE5A-4F11-37239452DEAD}"/>
              </a:ext>
            </a:extLst>
          </p:cNvPr>
          <p:cNvSpPr txBox="1">
            <a:spLocks/>
          </p:cNvSpPr>
          <p:nvPr/>
        </p:nvSpPr>
        <p:spPr>
          <a:xfrm>
            <a:off x="504001" y="503999"/>
            <a:ext cx="11691174" cy="646331"/>
          </a:xfrm>
          <a:prstGeom prst="rect">
            <a:avLst/>
          </a:prstGeom>
        </p:spPr>
        <p:txBody>
          <a:bodyPr/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pPr defTabSz="1088231">
              <a:defRPr/>
            </a:pPr>
            <a:r>
              <a:rPr lang="en-IN" b="1" dirty="0"/>
              <a:t>Model context protocol (MCP) unlocked: Enable governed access to AI agents</a:t>
            </a:r>
            <a:br>
              <a:rPr lang="en-US" dirty="0"/>
            </a:br>
            <a:r>
              <a:rPr lang="en-IN" sz="1800" dirty="0">
                <a:solidFill>
                  <a:srgbClr val="056FF4"/>
                </a:solidFill>
              </a:rPr>
              <a:t>Session Exercises Flow</a:t>
            </a:r>
            <a:endParaRPr lang="en-GB" sz="1800" dirty="0">
              <a:solidFill>
                <a:srgbClr val="056FF4"/>
              </a:solidFill>
            </a:endParaRPr>
          </a:p>
        </p:txBody>
      </p:sp>
      <p:sp>
        <p:nvSpPr>
          <p:cNvPr id="82" name="Text 51">
            <a:extLst>
              <a:ext uri="{FF2B5EF4-FFF2-40B4-BE49-F238E27FC236}">
                <a16:creationId xmlns:a16="http://schemas.microsoft.com/office/drawing/2014/main" id="{2F2BD499-2D66-C49E-CDA9-9F5DB12ADC35}"/>
              </a:ext>
            </a:extLst>
          </p:cNvPr>
          <p:cNvSpPr/>
          <p:nvPr/>
        </p:nvSpPr>
        <p:spPr>
          <a:xfrm>
            <a:off x="222326" y="4167497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Ex 2 – Create and Deploy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83" name="Text 51">
            <a:extLst>
              <a:ext uri="{FF2B5EF4-FFF2-40B4-BE49-F238E27FC236}">
                <a16:creationId xmlns:a16="http://schemas.microsoft.com/office/drawing/2014/main" id="{BE18097E-8976-34D7-D8B5-636F6BC56810}"/>
              </a:ext>
            </a:extLst>
          </p:cNvPr>
          <p:cNvSpPr/>
          <p:nvPr/>
        </p:nvSpPr>
        <p:spPr>
          <a:xfrm>
            <a:off x="10426866" y="4231967"/>
            <a:ext cx="1680791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Ex 3 – Copy, Configure and Deploy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85" name="Shape 19">
            <a:extLst>
              <a:ext uri="{FF2B5EF4-FFF2-40B4-BE49-F238E27FC236}">
                <a16:creationId xmlns:a16="http://schemas.microsoft.com/office/drawing/2014/main" id="{76935C4E-0D50-F298-6141-F28DD6720610}"/>
              </a:ext>
            </a:extLst>
          </p:cNvPr>
          <p:cNvSpPr/>
          <p:nvPr/>
        </p:nvSpPr>
        <p:spPr>
          <a:xfrm flipH="1" flipV="1">
            <a:off x="11327218" y="2649542"/>
            <a:ext cx="1" cy="8118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67C4702-B7F7-6FDB-F4B0-F976DE56BD58}"/>
              </a:ext>
            </a:extLst>
          </p:cNvPr>
          <p:cNvSpPr txBox="1"/>
          <p:nvPr/>
        </p:nvSpPr>
        <p:spPr>
          <a:xfrm>
            <a:off x="10590902" y="2256995"/>
            <a:ext cx="1516756" cy="40011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1000" b="1" dirty="0">
                <a:latin typeface="+mn-lt"/>
              </a:rPr>
              <a:t>SAP AI Launchpad</a:t>
            </a:r>
          </a:p>
          <a:p>
            <a:pPr algn="ctr"/>
            <a:r>
              <a:rPr lang="en-IN" sz="1000" b="1" dirty="0">
                <a:latin typeface="+mn-lt"/>
              </a:rPr>
              <a:t>Document Grounding</a:t>
            </a:r>
            <a:endParaRPr lang="en-US" sz="1000" b="1" dirty="0">
              <a:latin typeface="+mn-lt"/>
            </a:endParaRP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7F34630D-2FC0-2FA8-98C0-DF21DEBB9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60398" y="1811969"/>
            <a:ext cx="502500" cy="447995"/>
          </a:xfrm>
          <a:prstGeom prst="rect">
            <a:avLst/>
          </a:prstGeom>
        </p:spPr>
      </p:pic>
      <p:sp>
        <p:nvSpPr>
          <p:cNvPr id="89" name="Shape 19">
            <a:extLst>
              <a:ext uri="{FF2B5EF4-FFF2-40B4-BE49-F238E27FC236}">
                <a16:creationId xmlns:a16="http://schemas.microsoft.com/office/drawing/2014/main" id="{8A44DF59-D629-3970-69BB-CA0C4A9BA872}"/>
              </a:ext>
            </a:extLst>
          </p:cNvPr>
          <p:cNvSpPr/>
          <p:nvPr/>
        </p:nvSpPr>
        <p:spPr>
          <a:xfrm flipH="1" flipV="1">
            <a:off x="1088178" y="2406991"/>
            <a:ext cx="1" cy="8118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51">
            <a:extLst>
              <a:ext uri="{FF2B5EF4-FFF2-40B4-BE49-F238E27FC236}">
                <a16:creationId xmlns:a16="http://schemas.microsoft.com/office/drawing/2014/main" id="{0F242D2F-1868-0897-76EF-8FDD4B65AEF1}"/>
              </a:ext>
            </a:extLst>
          </p:cNvPr>
          <p:cNvSpPr/>
          <p:nvPr/>
        </p:nvSpPr>
        <p:spPr>
          <a:xfrm>
            <a:off x="2732231" y="6225576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Ex 4 – Create and Deploy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91" name="Text 51">
            <a:extLst>
              <a:ext uri="{FF2B5EF4-FFF2-40B4-BE49-F238E27FC236}">
                <a16:creationId xmlns:a16="http://schemas.microsoft.com/office/drawing/2014/main" id="{9E9AD8C7-5039-9D9B-07A6-9037599FD649}"/>
              </a:ext>
            </a:extLst>
          </p:cNvPr>
          <p:cNvSpPr/>
          <p:nvPr/>
        </p:nvSpPr>
        <p:spPr>
          <a:xfrm>
            <a:off x="7784225" y="6397769"/>
            <a:ext cx="1680791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Ex 5 – Copy, Configure and Deploy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76015754-E229-01AE-57E0-F33BEE9CA8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817" y="5473020"/>
            <a:ext cx="406799" cy="40679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C8E40CD-2EEC-C742-F167-6CB18849B19D}"/>
              </a:ext>
            </a:extLst>
          </p:cNvPr>
          <p:cNvSpPr txBox="1"/>
          <p:nvPr/>
        </p:nvSpPr>
        <p:spPr>
          <a:xfrm>
            <a:off x="10893225" y="2967003"/>
            <a:ext cx="1016304" cy="15388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non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000" b="1" kern="0" dirty="0">
                <a:solidFill>
                  <a:srgbClr val="470CED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Integration Flow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77CB27A-C8EB-464A-BFE4-5923905EAD80}"/>
              </a:ext>
            </a:extLst>
          </p:cNvPr>
          <p:cNvSpPr txBox="1"/>
          <p:nvPr/>
        </p:nvSpPr>
        <p:spPr>
          <a:xfrm>
            <a:off x="1824785" y="5635198"/>
            <a:ext cx="1118897" cy="153888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000" b="1" kern="0" dirty="0">
                <a:solidFill>
                  <a:srgbClr val="470CED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Integration Flow</a:t>
            </a:r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381135E4-4A0B-E73C-CEAA-5302AE7A6003}"/>
              </a:ext>
            </a:extLst>
          </p:cNvPr>
          <p:cNvSpPr/>
          <p:nvPr/>
        </p:nvSpPr>
        <p:spPr>
          <a:xfrm>
            <a:off x="7846027" y="2117963"/>
            <a:ext cx="1616891" cy="48260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Ex6 – Create Product and AI Agent Subscription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99" name="Text 51">
            <a:extLst>
              <a:ext uri="{FF2B5EF4-FFF2-40B4-BE49-F238E27FC236}">
                <a16:creationId xmlns:a16="http://schemas.microsoft.com/office/drawing/2014/main" id="{E50B6975-1DA4-F170-A198-5A8F90EEBF8E}"/>
              </a:ext>
            </a:extLst>
          </p:cNvPr>
          <p:cNvSpPr/>
          <p:nvPr/>
        </p:nvSpPr>
        <p:spPr>
          <a:xfrm>
            <a:off x="5083021" y="2193987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Ex 7 </a:t>
            </a: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– Download and setup</a:t>
            </a: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 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101" name="Graphic 100" descr="MCP: Your AI talking to 136+ tools | Pluga">
            <a:extLst>
              <a:ext uri="{FF2B5EF4-FFF2-40B4-BE49-F238E27FC236}">
                <a16:creationId xmlns:a16="http://schemas.microsoft.com/office/drawing/2014/main" id="{2910FB17-2CE8-FFBA-6B4A-077151D13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68550" y="3813023"/>
            <a:ext cx="396000" cy="353048"/>
          </a:xfrm>
          <a:prstGeom prst="rect">
            <a:avLst/>
          </a:prstGeom>
        </p:spPr>
      </p:pic>
      <p:sp>
        <p:nvSpPr>
          <p:cNvPr id="102" name="Text 51">
            <a:extLst>
              <a:ext uri="{FF2B5EF4-FFF2-40B4-BE49-F238E27FC236}">
                <a16:creationId xmlns:a16="http://schemas.microsoft.com/office/drawing/2014/main" id="{15D56CC8-D853-8B23-C105-F4E4CD489F49}"/>
              </a:ext>
            </a:extLst>
          </p:cNvPr>
          <p:cNvSpPr/>
          <p:nvPr/>
        </p:nvSpPr>
        <p:spPr>
          <a:xfrm>
            <a:off x="2695694" y="4109315"/>
            <a:ext cx="1745253" cy="340360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Claude Sonnet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BFE2D72B-21A5-380D-0D81-7E16F715D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04428" y="3554940"/>
            <a:ext cx="502500" cy="447995"/>
          </a:xfrm>
          <a:prstGeom prst="rect">
            <a:avLst/>
          </a:prstGeom>
        </p:spPr>
      </p:pic>
      <p:sp>
        <p:nvSpPr>
          <p:cNvPr id="105" name="Shape 7">
            <a:extLst>
              <a:ext uri="{FF2B5EF4-FFF2-40B4-BE49-F238E27FC236}">
                <a16:creationId xmlns:a16="http://schemas.microsoft.com/office/drawing/2014/main" id="{D85096F6-3D2C-E165-D398-AF69AB6FBDDC}"/>
              </a:ext>
            </a:extLst>
          </p:cNvPr>
          <p:cNvSpPr/>
          <p:nvPr/>
        </p:nvSpPr>
        <p:spPr>
          <a:xfrm>
            <a:off x="3911634" y="3814001"/>
            <a:ext cx="9267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3">
            <a:extLst>
              <a:ext uri="{FF2B5EF4-FFF2-40B4-BE49-F238E27FC236}">
                <a16:creationId xmlns:a16="http://schemas.microsoft.com/office/drawing/2014/main" id="{614A36A2-DB59-D82E-6EDB-D725E22891AA}"/>
              </a:ext>
            </a:extLst>
          </p:cNvPr>
          <p:cNvSpPr/>
          <p:nvPr/>
        </p:nvSpPr>
        <p:spPr>
          <a:xfrm>
            <a:off x="6089487" y="2508110"/>
            <a:ext cx="0" cy="432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F5C8B1D4-F57D-361B-1E17-B6110CFDCD34}"/>
              </a:ext>
            </a:extLst>
          </p:cNvPr>
          <p:cNvSpPr/>
          <p:nvPr/>
        </p:nvSpPr>
        <p:spPr>
          <a:xfrm flipH="1" flipV="1">
            <a:off x="11327215" y="4648291"/>
            <a:ext cx="2" cy="2222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4">
            <a:extLst>
              <a:ext uri="{FF2B5EF4-FFF2-40B4-BE49-F238E27FC236}">
                <a16:creationId xmlns:a16="http://schemas.microsoft.com/office/drawing/2014/main" id="{7333354F-9D44-E5ED-5B31-08763A9479C9}"/>
              </a:ext>
            </a:extLst>
          </p:cNvPr>
          <p:cNvSpPr/>
          <p:nvPr/>
        </p:nvSpPr>
        <p:spPr>
          <a:xfrm>
            <a:off x="6080561" y="4560945"/>
            <a:ext cx="0" cy="30715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0">
            <a:extLst>
              <a:ext uri="{FF2B5EF4-FFF2-40B4-BE49-F238E27FC236}">
                <a16:creationId xmlns:a16="http://schemas.microsoft.com/office/drawing/2014/main" id="{54C60DF9-FEC3-F46E-1291-54FCB7EB04C6}"/>
              </a:ext>
            </a:extLst>
          </p:cNvPr>
          <p:cNvSpPr/>
          <p:nvPr/>
        </p:nvSpPr>
        <p:spPr>
          <a:xfrm>
            <a:off x="6066550" y="4861357"/>
            <a:ext cx="5260646" cy="1077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E2FAFFB-465E-EA5D-DE3D-9409958815B1}"/>
              </a:ext>
            </a:extLst>
          </p:cNvPr>
          <p:cNvSpPr/>
          <p:nvPr/>
        </p:nvSpPr>
        <p:spPr>
          <a:xfrm>
            <a:off x="7905836" y="4730914"/>
            <a:ext cx="2264768" cy="273586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19050" tIns="19050" rIns="19050" bIns="19050" rtlCol="0" anchor="ctr"/>
          <a:lstStyle/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HR Policy for Equipment's, System </a:t>
            </a:r>
          </a:p>
          <a:p>
            <a:pPr algn="ctr">
              <a:lnSpc>
                <a:spcPts val="1000"/>
              </a:lnSpc>
            </a:pPr>
            <a:r>
              <a:rPr lang="en-US" sz="1000" b="1" dirty="0">
                <a:solidFill>
                  <a:srgbClr val="470CED"/>
                </a:solidFill>
                <a:latin typeface="72" pitchFamily="34" charset="0"/>
                <a:ea typeface="72" pitchFamily="34" charset="-122"/>
                <a:cs typeface="72" pitchFamily="34" charset="-120"/>
              </a:rPr>
              <a:t>Access and Training Enrollment</a:t>
            </a:r>
            <a:endParaRPr lang="en-US" sz="1000" b="1" dirty="0">
              <a:solidFill>
                <a:srgbClr val="470CED"/>
              </a:solidFill>
            </a:endParaRPr>
          </a:p>
        </p:txBody>
      </p:sp>
      <p:sp>
        <p:nvSpPr>
          <p:cNvPr id="81" name="Text 51">
            <a:extLst>
              <a:ext uri="{FF2B5EF4-FFF2-40B4-BE49-F238E27FC236}">
                <a16:creationId xmlns:a16="http://schemas.microsoft.com/office/drawing/2014/main" id="{5ECEC8D5-4C1C-AB37-28F1-6DA0254220EC}"/>
              </a:ext>
            </a:extLst>
          </p:cNvPr>
          <p:cNvSpPr/>
          <p:nvPr/>
        </p:nvSpPr>
        <p:spPr>
          <a:xfrm>
            <a:off x="223859" y="2518232"/>
            <a:ext cx="1745253" cy="3403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19050" tIns="19050" rIns="19050" bIns="19050" rtlCol="0" anchor="ctr"/>
          <a:lstStyle/>
          <a:p>
            <a:pPr algn="ctr">
              <a:lnSpc>
                <a:spcPts val="1600"/>
              </a:lnSpc>
            </a:pPr>
            <a:r>
              <a:rPr lang="en-US" sz="1000" b="1" dirty="0">
                <a:solidFill>
                  <a:srgbClr val="470CED"/>
                </a:solidFill>
                <a:latin typeface="72 Brand" pitchFamily="34" charset="0"/>
              </a:rPr>
              <a:t>Ex 8 – Add New Employee</a:t>
            </a:r>
            <a:endParaRPr lang="en-US" sz="1000" b="1" dirty="0">
              <a:solidFill>
                <a:srgbClr val="470C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9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0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50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11" grpId="0" animBg="1"/>
      <p:bldP spid="12" grpId="0" animBg="1"/>
      <p:bldP spid="13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32" grpId="0" animBg="1"/>
      <p:bldP spid="36" grpId="0" animBg="1"/>
      <p:bldP spid="44" grpId="0" animBg="1"/>
      <p:bldP spid="46" grpId="0" animBg="1"/>
      <p:bldP spid="48" grpId="0" animBg="1"/>
      <p:bldP spid="52" grpId="0" animBg="1"/>
      <p:bldP spid="54" grpId="0" animBg="1"/>
      <p:bldP spid="56" grpId="0" animBg="1"/>
      <p:bldP spid="56" grpId="1" animBg="1"/>
      <p:bldP spid="58" grpId="0" animBg="1"/>
      <p:bldP spid="60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77" grpId="0" animBg="1"/>
      <p:bldP spid="78" grpId="0" animBg="1"/>
      <p:bldP spid="30" grpId="0" animBg="1"/>
      <p:bldP spid="79" grpId="0" animBg="1"/>
      <p:bldP spid="82" grpId="0" animBg="1"/>
      <p:bldP spid="83" grpId="0" animBg="1"/>
      <p:bldP spid="85" grpId="0" animBg="1"/>
      <p:bldP spid="87" grpId="0"/>
      <p:bldP spid="89" grpId="0" animBg="1"/>
      <p:bldP spid="90" grpId="0" animBg="1"/>
      <p:bldP spid="91" grpId="0" animBg="1"/>
      <p:bldP spid="95" grpId="0" animBg="1"/>
      <p:bldP spid="96" grpId="0" animBg="1"/>
      <p:bldP spid="98" grpId="0" animBg="1"/>
      <p:bldP spid="99" grpId="0" animBg="1"/>
      <p:bldP spid="102" grpId="0" animBg="1"/>
      <p:bldP spid="105" grpId="0" animBg="1"/>
      <p:bldP spid="106" grpId="0" animBg="1"/>
      <p:bldP spid="107" grpId="0" animBg="1"/>
      <p:bldP spid="115" grpId="0" animBg="1"/>
      <p:bldP spid="117" grpId="0" animBg="1"/>
      <p:bldP spid="38" grpId="0" animBg="1"/>
      <p:bldP spid="81" grpId="0" animBg="1"/>
    </p:bldLst>
  </p:timing>
  <p:extLst mod="1">
    <p:ext uri="{6EAA1A4A-EKX0-4B2E-9C0D-EKX000000001}">
      <ekx:slideId xmlns:ekx="https://ekx.app/schemas/deck/1.0" xmlns="" val="f00a4ceab55138e9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2AA8C-9C87-72D0-A31D-DEEE4F53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E4138E-C701-1068-A67E-EA2BED3B2737}"/>
              </a:ext>
            </a:extLst>
          </p:cNvPr>
          <p:cNvSpPr txBox="1"/>
          <p:nvPr/>
        </p:nvSpPr>
        <p:spPr>
          <a:xfrm>
            <a:off x="504000" y="1649038"/>
            <a:ext cx="11528166" cy="3970318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Use your participant number on everything — every artifact name, every MCP path, every queue name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Use underscore (_) in all artifact names: IN261_0** — hyphen only in your login username (IN261-0**)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IN" sz="1800" dirty="0">
                <a:latin typeface="+mn-lt"/>
              </a:rPr>
              <a:t>To complete the session on time, please stick to the time estimate given above each exercise.</a:t>
            </a:r>
            <a:r>
              <a:rPr lang="en-US" sz="1800" dirty="0">
                <a:latin typeface="+mn-lt"/>
              </a:rPr>
              <a:t>Check artifact status is STARTED before moving to the next exercise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Keep your terminal open once the agent is running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Don't touch anyone else's artifacts — if it doesn't have your number, leave it alone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Don't click Deploy twice — wait and refresh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Fast Track tip: If you fall behind on Ex 2–5 (building MCP Servers), the solution MCP URLs are already in </a:t>
            </a:r>
            <a:r>
              <a:rPr lang="en-US" sz="1800" dirty="0" err="1">
                <a:latin typeface="+mn-lt"/>
              </a:rPr>
              <a:t>mcp-servers.json</a:t>
            </a:r>
            <a:r>
              <a:rPr lang="en-US" sz="1800" dirty="0">
                <a:latin typeface="+mn-lt"/>
              </a:rPr>
              <a:t> under workshop_01a_solution or workshop_01b_solution — copy them to active and keep going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Troubleshooting guide is linked from the main README — your companion for quick resolution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0F50CC-BDBC-69CF-A4A0-FB7D539EC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3999"/>
            <a:ext cx="11450106" cy="646331"/>
          </a:xfrm>
        </p:spPr>
        <p:txBody>
          <a:bodyPr/>
          <a:lstStyle/>
          <a:p>
            <a:pPr defTabSz="1088231">
              <a:defRPr/>
            </a:pPr>
            <a:r>
              <a:rPr lang="en-IN" b="1" dirty="0"/>
              <a:t>Model context protocol (MCP) unlocked: Enable governed access to AI agents</a:t>
            </a:r>
            <a:br>
              <a:rPr lang="en-US" dirty="0"/>
            </a:br>
            <a:r>
              <a:rPr lang="en-IN" sz="1800" dirty="0">
                <a:solidFill>
                  <a:srgbClr val="056FF4"/>
                </a:solidFill>
              </a:rPr>
              <a:t>Best Practices</a:t>
            </a:r>
            <a:endParaRPr lang="en-GB" sz="1800" dirty="0">
              <a:solidFill>
                <a:srgbClr val="056FF4"/>
              </a:solidFill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0730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3067" y="1353522"/>
            <a:ext cx="6446520" cy="4617720"/>
          </a:xfrm>
          <a:prstGeom prst="roundRect">
            <a:avLst/>
          </a:prstGeom>
          <a:solidFill>
            <a:srgbClr val="021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7971" y="1755648"/>
            <a:ext cx="5715000" cy="3385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5FEBD6"/>
                </a:solidFill>
                <a:latin typeface="Arial"/>
              </a:defRPr>
            </a:pPr>
            <a:r>
              <a:rPr sz="1900"/>
              <a:t>YOUR FEEDBACK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7971" y="2359152"/>
            <a:ext cx="5623560" cy="1417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300" b="1">
                <a:solidFill>
                  <a:srgbClr val="FFFFFF"/>
                </a:solidFill>
                <a:latin typeface="Arial"/>
              </a:defRPr>
            </a:pPr>
            <a:r>
              <a:rPr sz="4300"/>
              <a:t>How was this</a:t>
            </a:r>
          </a:p>
          <a:p>
            <a:pPr>
              <a:defRPr sz="4300" b="1">
                <a:solidFill>
                  <a:srgbClr val="FFFFFF"/>
                </a:solidFill>
                <a:latin typeface="Arial"/>
              </a:defRPr>
            </a:pPr>
            <a:r>
              <a:rPr sz="4300"/>
              <a:t>session?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259" y="4041648"/>
            <a:ext cx="5577840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rial"/>
              </a:defRPr>
            </a:pPr>
            <a:r>
              <a:rPr sz="2000" dirty="0"/>
              <a:t>Scan the QR code to complete the session survey.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259" y="4965193"/>
            <a:ext cx="5532120" cy="56938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/>
              <a:t>Before you scan: Open the SAP Events app and add this session to My Schedule.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6787" y="1152144"/>
            <a:ext cx="4315968" cy="5285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0562" y="1499617"/>
            <a:ext cx="3383280" cy="3077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700" b="1">
                <a:solidFill>
                  <a:srgbClr val="0C1D50"/>
                </a:solidFill>
                <a:latin typeface="Arial"/>
              </a:defRPr>
            </a:pPr>
            <a:r>
              <a:rPr sz="1700"/>
              <a:t>SCAN TO SHARE FEEDBACK</a:t>
            </a:r>
          </a:p>
        </p:txBody>
      </p:sp>
      <p:pic>
        <p:nvPicPr>
          <p:cNvPr id="9" name="Picture 8" descr="FinalSAPTechEd 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555" y="2011680"/>
            <a:ext cx="342900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11147" y="5614417"/>
            <a:ext cx="3246120" cy="276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1">
                <a:solidFill>
                  <a:srgbClr val="312180"/>
                </a:solidFill>
                <a:latin typeface="Arial"/>
              </a:defRPr>
            </a:pPr>
            <a:r>
              <a:rPr sz="1500"/>
              <a:t>SAP TechEd Berlin 2026</a:t>
            </a:r>
          </a:p>
        </p:txBody>
      </p:sp>
    </p:spTree>
    <p:extLst>
      <p:ext uri="{BB962C8B-B14F-4D97-AF65-F5344CB8AC3E}">
        <p14:creationId xmlns:p14="http://schemas.microsoft.com/office/powerpoint/2010/main" val="1058191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64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3" id="{DBF5F684-EF76-4E8A-B3DE-55B3D237EF70}" vid="{220B0951-E1EA-482F-8806-B4B895DCA6D9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item1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2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5,"isValidatorEnabled":false,"isLocked":false,"elementsMetadata":[],"slideId":"1328131217384275975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9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10.xml><?xml version="1.0" encoding="utf-8"?>
<TemplafySlideTemplateConfiguration><![CDATA[{"slideVersion":5,"isValidatorEnabled":false,"isLocked":false,"elementsMetadata":[],"slideId":"1328131217384275975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4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1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2BE913D2F71947BBDF9AAA10E1C28E" ma:contentTypeVersion="25" ma:contentTypeDescription="Create a new document." ma:contentTypeScope="" ma:versionID="e5df3c797f9285277c5f03a5e434ff56">
  <xsd:schema xmlns:xsd="http://www.w3.org/2001/XMLSchema" xmlns:xs="http://www.w3.org/2001/XMLSchema" xmlns:p="http://schemas.microsoft.com/office/2006/metadata/properties" xmlns:ns2="49ef7e9e-01e8-4b5b-b8ae-1e8b9cb4c42a" xmlns:ns3="595ffcb2-9fa4-4efd-93aa-97d0f50f08e0" targetNamespace="http://schemas.microsoft.com/office/2006/metadata/properties" ma:root="true" ma:fieldsID="30d3942462e97becbc24aabbfb40c47c" ns2:_="" ns3:_="">
    <xsd:import namespace="49ef7e9e-01e8-4b5b-b8ae-1e8b9cb4c42a"/>
    <xsd:import namespace="595ffcb2-9fa4-4efd-93aa-97d0f50f08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Custome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Owner" minOccurs="0"/>
                <xsd:element ref="ns2:Comment" minOccurs="0"/>
                <xsd:element ref="ns2:MediaServiceObjectDetectorVersions" minOccurs="0"/>
                <xsd:element ref="ns2:MediaServiceSearchProperties" minOccurs="0"/>
                <xsd:element ref="ns2:Kira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ef7e9e-01e8-4b5b-b8ae-1e8b9cb4c4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Customer" ma:index="18" nillable="true" ma:displayName="Customer" ma:internalName="Customer">
      <xsd:simpleType>
        <xsd:restriction base="dms:Text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wner" ma:index="25" nillable="true" ma:displayName="Owner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mment" ma:index="26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Kiran" ma:index="29" nillable="true" ma:displayName="Kiran" ma:format="Dropdown" ma:internalName="Kiran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ffcb2-9fa4-4efd-93aa-97d0f50f08e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539bcfd-62af-45bb-9197-71a779eba09d}" ma:internalName="TaxCatchAll" ma:showField="CatchAllData" ma:web="595ffcb2-9fa4-4efd-93aa-97d0f50f08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49ef7e9e-01e8-4b5b-b8ae-1e8b9cb4c42a">
      <UserInfo>
        <DisplayName/>
        <AccountId xsi:nil="true"/>
        <AccountType/>
      </UserInfo>
    </Owner>
    <lcf76f155ced4ddcb4097134ff3c332f xmlns="49ef7e9e-01e8-4b5b-b8ae-1e8b9cb4c42a">
      <Terms xmlns="http://schemas.microsoft.com/office/infopath/2007/PartnerControls"/>
    </lcf76f155ced4ddcb4097134ff3c332f>
    <Comment xmlns="49ef7e9e-01e8-4b5b-b8ae-1e8b9cb4c42a" xsi:nil="true"/>
    <Customer xmlns="49ef7e9e-01e8-4b5b-b8ae-1e8b9cb4c42a" xsi:nil="true"/>
    <Kiran xmlns="49ef7e9e-01e8-4b5b-b8ae-1e8b9cb4c42a" xsi:nil="true"/>
    <TaxCatchAll xmlns="595ffcb2-9fa4-4efd-93aa-97d0f50f08e0" xsi:nil="true"/>
  </documentManagement>
</p:properties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slideVersion":9,"isValidatorEnabled":false,"isLocked":false,"elementsMetadata":[],"slideId":"638331234102899225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22.xml><?xml version="1.0" encoding="utf-8"?>
<TemplafySlideTemplateConfiguration><![CDATA[{"slideVersion":9,"isValidatorEnabled":false,"isLocked":false,"elementsMetadata":[],"slideId":"638331234102899225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40F98CC-F8FA-4257-87D3-FCE825196D17}">
  <ds:schemaRefs/>
</ds:datastoreItem>
</file>

<file path=customXml/itemProps2.xml><?xml version="1.0" encoding="utf-8"?>
<ds:datastoreItem xmlns:ds="http://schemas.openxmlformats.org/officeDocument/2006/customXml" ds:itemID="{7CE852FA-A08C-42DD-AE0D-B4ACD5BB86CC}">
  <ds:schemaRefs/>
</ds:datastoreItem>
</file>

<file path=customXml/itemProps3.xml><?xml version="1.0" encoding="utf-8"?>
<ds:datastoreItem xmlns:ds="http://schemas.openxmlformats.org/officeDocument/2006/customXml" ds:itemID="{D45B92AE-7293-1842-BF38-76A555C3A417}">
  <ds:schemaRefs/>
</ds:datastoreItem>
</file>

<file path=customXml/itemProps4.xml><?xml version="1.0" encoding="utf-8"?>
<ds:datastoreItem xmlns:ds="http://schemas.openxmlformats.org/officeDocument/2006/customXml" ds:itemID="{C3AE0489-6D95-6446-B1EF-95E2609A639C}">
  <ds:schemaRefs/>
</ds:datastoreItem>
</file>

<file path=customXml/itemProps5.xml><?xml version="1.0" encoding="utf-8"?>
<ds:datastoreItem xmlns:ds="http://schemas.openxmlformats.org/officeDocument/2006/customXml" ds:itemID="{7191A31C-0001-4F47-9681-3BF2CDE82779}">
  <ds:schemaRefs/>
</ds:datastoreItem>
</file>

<file path=customXml/itemProps6.xml><?xml version="1.0" encoding="utf-8"?>
<ds:datastoreItem xmlns:ds="http://schemas.openxmlformats.org/officeDocument/2006/customXml" ds:itemID="{626BBCBB-1894-4E66-BA48-9E91CE3ACBA0}">
  <ds:schemaRefs/>
</ds:datastoreItem>
</file>

<file path=customXml/itemProps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2EBA1259-1672-4DD3-BA35-A6EAF5A9B084}">
  <ds:schemaRefs/>
</ds:datastoreItem>
</file>

<file path=customXml/itemProps9.xml><?xml version="1.0" encoding="utf-8"?>
<ds:datastoreItem xmlns:ds="http://schemas.openxmlformats.org/officeDocument/2006/customXml" ds:itemID="{CC49FFC8-2FF3-4057-96F0-3BCD1A4F0351}">
  <ds:schemaRefs/>
</ds:datastoreItem>
</file>

<file path=customXml/itemProps10.xml><?xml version="1.0" encoding="utf-8"?>
<ds:datastoreItem xmlns:ds="http://schemas.openxmlformats.org/officeDocument/2006/customXml" ds:itemID="{A3713217-38F9-7246-8411-D9FB0148995B}">
  <ds:schemaRefs/>
</ds:datastoreItem>
</file>

<file path=customXml/itemProps11.xml><?xml version="1.0" encoding="utf-8"?>
<ds:datastoreItem xmlns:ds="http://schemas.openxmlformats.org/officeDocument/2006/customXml" ds:itemID="{1DF57CE4-1364-6D4B-85AD-5F8466EBEDE4}">
  <ds:schemaRefs/>
</ds:datastoreItem>
</file>

<file path=customXml/itemProps12.xml><?xml version="1.0" encoding="utf-8"?>
<ds:datastoreItem xmlns:ds="http://schemas.openxmlformats.org/officeDocument/2006/customXml" ds:itemID="{2619A3F2-6BB2-4CAE-88B7-CFA577527EBA}">
  <ds:schemaRefs/>
</ds:datastoreItem>
</file>

<file path=customXml/itemProps13.xml><?xml version="1.0" encoding="utf-8"?>
<ds:datastoreItem xmlns:ds="http://schemas.openxmlformats.org/officeDocument/2006/customXml" ds:itemID="{2E9C140C-7F7C-4BAD-BCD9-F2636157DE78}">
  <ds:schemaRefs/>
</ds:datastoreItem>
</file>

<file path=customXml/itemProps14.xml><?xml version="1.0" encoding="utf-8"?>
<ds:datastoreItem xmlns:ds="http://schemas.openxmlformats.org/officeDocument/2006/customXml" ds:itemID="{9F687104-044A-49FD-BBC2-8EEC24DE651C}">
  <ds:schemaRefs/>
</ds:datastoreItem>
</file>

<file path=customXml/itemProps15.xml><?xml version="1.0" encoding="utf-8"?>
<ds:datastoreItem xmlns:ds="http://schemas.openxmlformats.org/officeDocument/2006/customXml" ds:itemID="{6D2629AA-1DC1-49DE-96C1-D2D6A68647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ef7e9e-01e8-4b5b-b8ae-1e8b9cb4c42a"/>
    <ds:schemaRef ds:uri="595ffcb2-9fa4-4efd-93aa-97d0f50f08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6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purl.org/dc/elements/1.1/"/>
    <ds:schemaRef ds:uri="779f7773-5b16-460b-be9a-e10be11b395c"/>
    <ds:schemaRef ds:uri="c4b6f2ff-68b1-46de-9bce-6fa460fc6320"/>
    <ds:schemaRef ds:uri="c6ac5ec3-bac5-4275-866e-43e75c41036e"/>
    <ds:schemaRef ds:uri="49ef7e9e-01e8-4b5b-b8ae-1e8b9cb4c42a"/>
    <ds:schemaRef ds:uri="595ffcb2-9fa4-4efd-93aa-97d0f50f08e0"/>
  </ds:schemaRefs>
</ds:datastoreItem>
</file>

<file path=customXml/itemProps17.xml><?xml version="1.0" encoding="utf-8"?>
<ds:datastoreItem xmlns:ds="http://schemas.openxmlformats.org/officeDocument/2006/customXml" ds:itemID="{262F285F-827C-4183-96DE-8531462DE52A}">
  <ds:schemaRefs/>
</ds:datastoreItem>
</file>

<file path=customXml/itemProps18.xml><?xml version="1.0" encoding="utf-8"?>
<ds:datastoreItem xmlns:ds="http://schemas.openxmlformats.org/officeDocument/2006/customXml" ds:itemID="{08F5F941-6E88-5F40-9BCA-A159B8E67677}">
  <ds:schemaRefs/>
</ds:datastoreItem>
</file>

<file path=customXml/itemProps19.xml><?xml version="1.0" encoding="utf-8"?>
<ds:datastoreItem xmlns:ds="http://schemas.openxmlformats.org/officeDocument/2006/customXml" ds:itemID="{E401AD5E-0345-3841-9A80-CC515C24B561}">
  <ds:schemaRefs/>
</ds:datastoreItem>
</file>

<file path=customXml/itemProps20.xml><?xml version="1.0" encoding="utf-8"?>
<ds:datastoreItem xmlns:ds="http://schemas.openxmlformats.org/officeDocument/2006/customXml" ds:itemID="{54FE47D6-A0B5-433B-A8EF-42136D6623C1}">
  <ds:schemaRefs/>
</ds:datastoreItem>
</file>

<file path=customXml/itemProps21.xml><?xml version="1.0" encoding="utf-8"?>
<ds:datastoreItem xmlns:ds="http://schemas.openxmlformats.org/officeDocument/2006/customXml" ds:itemID="{8DB0A96E-6777-4404-88E8-A679525071C5}">
  <ds:schemaRefs/>
</ds:datastoreItem>
</file>

<file path=customXml/itemProps22.xml><?xml version="1.0" encoding="utf-8"?>
<ds:datastoreItem xmlns:ds="http://schemas.openxmlformats.org/officeDocument/2006/customXml" ds:itemID="{ADE5B4D4-E351-444E-B177-D4608A942F0A}">
  <ds:schemaRefs/>
</ds:datastoreItem>
</file>

<file path=customXml/itemProps23.xml><?xml version="1.0" encoding="utf-8"?>
<ds:datastoreItem xmlns:ds="http://schemas.openxmlformats.org/officeDocument/2006/customXml" ds:itemID="{D1FEF7A2-EB3C-3047-8FAF-FEEE8B9A9F1A}">
  <ds:schemaRefs/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381</TotalTime>
  <Words>919</Words>
  <Application>Microsoft Macintosh PowerPoint</Application>
  <PresentationFormat>Custom</PresentationFormat>
  <Paragraphs>138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72 Brand</vt:lpstr>
      <vt:lpstr>Symbol</vt:lpstr>
      <vt:lpstr>72 Brand Medium</vt:lpstr>
      <vt:lpstr>Arial</vt:lpstr>
      <vt:lpstr>wingdings</vt:lpstr>
      <vt:lpstr>wingdings</vt:lpstr>
      <vt:lpstr>72</vt:lpstr>
      <vt:lpstr>SAP Template</vt:lpstr>
      <vt:lpstr>IN261 — Model context protocol (MCP) unlocked: Enable governed access to AI agents</vt:lpstr>
      <vt:lpstr>PowerPoint Presentation</vt:lpstr>
      <vt:lpstr>PowerPoint Presentation</vt:lpstr>
      <vt:lpstr>Model context protocol (MCP) unlocked: Enable governed access to AI agents Best Practices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Kapoor, Sunny</dc:creator>
  <dc:description/>
  <cp:lastModifiedBy>Kapoor, Sunny</cp:lastModifiedBy>
  <cp:revision>69</cp:revision>
  <dcterms:created xsi:type="dcterms:W3CDTF">2026-10-24T16:28:28Z</dcterms:created>
  <dcterms:modified xsi:type="dcterms:W3CDTF">2026-10-28T16:41:23Z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0x0101006A2BE913D2F71947BBDF9AAA10E1C28E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  <property fmtid="{D5CDD505-2E9C-101B-9397-08002B2CF9AE}" pid="13" name="MediaServiceImageTags">
    <vt:lpwstr/>
  </property>
</Properties>
</file>